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87" r:id="rId2"/>
    <p:sldId id="305" r:id="rId3"/>
    <p:sldId id="322" r:id="rId4"/>
    <p:sldId id="306" r:id="rId5"/>
    <p:sldId id="288" r:id="rId6"/>
    <p:sldId id="289" r:id="rId7"/>
    <p:sldId id="307" r:id="rId8"/>
    <p:sldId id="308" r:id="rId9"/>
    <p:sldId id="309" r:id="rId10"/>
    <p:sldId id="310" r:id="rId11"/>
    <p:sldId id="290" r:id="rId12"/>
    <p:sldId id="296" r:id="rId13"/>
    <p:sldId id="291" r:id="rId14"/>
    <p:sldId id="311" r:id="rId15"/>
    <p:sldId id="312" r:id="rId16"/>
    <p:sldId id="313" r:id="rId17"/>
    <p:sldId id="314" r:id="rId18"/>
    <p:sldId id="315" r:id="rId19"/>
    <p:sldId id="316" r:id="rId20"/>
    <p:sldId id="298" r:id="rId21"/>
    <p:sldId id="299" r:id="rId22"/>
    <p:sldId id="300" r:id="rId23"/>
    <p:sldId id="256" r:id="rId24"/>
    <p:sldId id="257" r:id="rId25"/>
    <p:sldId id="258" r:id="rId26"/>
    <p:sldId id="259" r:id="rId27"/>
    <p:sldId id="317" r:id="rId28"/>
    <p:sldId id="318" r:id="rId29"/>
    <p:sldId id="319" r:id="rId30"/>
    <p:sldId id="320" r:id="rId31"/>
    <p:sldId id="294" r:id="rId32"/>
    <p:sldId id="302" r:id="rId33"/>
    <p:sldId id="260" r:id="rId34"/>
    <p:sldId id="321" r:id="rId35"/>
    <p:sldId id="304" r:id="rId36"/>
    <p:sldId id="261" r:id="rId37"/>
    <p:sldId id="323" r:id="rId38"/>
    <p:sldId id="324" r:id="rId39"/>
    <p:sldId id="262" r:id="rId40"/>
    <p:sldId id="325" r:id="rId41"/>
    <p:sldId id="263" r:id="rId42"/>
    <p:sldId id="326" r:id="rId43"/>
    <p:sldId id="295" r:id="rId44"/>
    <p:sldId id="264" r:id="rId45"/>
    <p:sldId id="327" r:id="rId46"/>
    <p:sldId id="293" r:id="rId47"/>
    <p:sldId id="328" r:id="rId48"/>
    <p:sldId id="265" r:id="rId49"/>
    <p:sldId id="329" r:id="rId50"/>
    <p:sldId id="330" r:id="rId51"/>
    <p:sldId id="303" r:id="rId52"/>
    <p:sldId id="266" r:id="rId53"/>
    <p:sldId id="331" r:id="rId54"/>
    <p:sldId id="332" r:id="rId55"/>
    <p:sldId id="267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938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60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8286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4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316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9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06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2961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0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6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9329B7B-7C04-4FF8-A6A6-8CF45DDAA8F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624BB54-EC34-4E98-A5A1-9CF9FE857EE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5336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3CFE-2C87-4CC6-9923-E32195404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Knowledge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72129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A87C-6764-2FD9-CDE6-0A1C6B25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Representation (KR)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B10C-2219-989B-E8B1-F3EC16B93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3200" dirty="0"/>
              <a:t>Knowledge Representation (KR) is the process of </a:t>
            </a:r>
            <a:r>
              <a:rPr lang="en-IN" sz="3200" b="1" dirty="0"/>
              <a:t>representing knowledge in a form that a computer/AI system can understand, store, reason with, and use to make decisions</a:t>
            </a:r>
            <a:r>
              <a:rPr lang="en-IN" sz="32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37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CBB6-3C25-AED5-BCFC-8EB3D4D3D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05841"/>
            <a:ext cx="10178322" cy="4873752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Course Outcome:</a:t>
            </a:r>
          </a:p>
          <a:p>
            <a:pPr marL="0" indent="0">
              <a:buNone/>
            </a:pPr>
            <a:r>
              <a:rPr lang="en-IN" sz="2400" b="1" dirty="0"/>
              <a:t>Use suitable knowledge representation techniques for AI-based applications.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Session Outcomes</a:t>
            </a:r>
          </a:p>
          <a:p>
            <a:pPr lvl="0"/>
            <a:r>
              <a:rPr lang="en-IN" sz="2400" b="1" dirty="0"/>
              <a:t>Understand Knowledge Representation approaches.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Represent and map facts using formal representations.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Customize a Knowledge Representation model for an AI application.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68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C388-F320-64DE-1F5D-1EF5DFF8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55BCE-2627-A028-1B84-2EA11007F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656080"/>
            <a:ext cx="4800600" cy="4541520"/>
          </a:xfrm>
        </p:spPr>
        <p:txBody>
          <a:bodyPr/>
          <a:lstStyle/>
          <a:p>
            <a:r>
              <a:rPr lang="en-IN" dirty="0"/>
              <a:t>Suppose we tell an AI system:</a:t>
            </a:r>
          </a:p>
          <a:p>
            <a:pPr lvl="0"/>
            <a:r>
              <a:rPr lang="en-IN" b="1" dirty="0"/>
              <a:t>Ravi is a student. </a:t>
            </a:r>
          </a:p>
          <a:p>
            <a:pPr lvl="0"/>
            <a:r>
              <a:rPr lang="en-IN" b="1" dirty="0"/>
              <a:t>Ravi studies Artificial Intelligence. </a:t>
            </a:r>
          </a:p>
          <a:p>
            <a:pPr lvl="0"/>
            <a:r>
              <a:rPr lang="en-IN" b="1" dirty="0"/>
              <a:t>Every student has an ID. </a:t>
            </a:r>
          </a:p>
          <a:p>
            <a:r>
              <a:rPr lang="en-IN" dirty="0"/>
              <a:t>A computer cannot reason effectively from these statements if they are stored only as ordinary English sentences.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292D2-2C9F-9911-BEAE-CCF77685C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796" y="1656080"/>
            <a:ext cx="4800600" cy="4249420"/>
          </a:xfrm>
        </p:spPr>
        <p:txBody>
          <a:bodyPr/>
          <a:lstStyle/>
          <a:p>
            <a:r>
              <a:rPr lang="en-IN" dirty="0"/>
              <a:t>Instead, we can represent them formally:</a:t>
            </a:r>
          </a:p>
          <a:p>
            <a:pPr marL="0" indent="0">
              <a:buNone/>
            </a:pPr>
            <a:r>
              <a:rPr lang="en-IN" b="1" dirty="0"/>
              <a:t>Student(Ravi)</a:t>
            </a:r>
          </a:p>
          <a:p>
            <a:pPr marL="0" indent="0">
              <a:buNone/>
            </a:pPr>
            <a:r>
              <a:rPr lang="en-IN" b="1" dirty="0"/>
              <a:t>Studies(Ravi, </a:t>
            </a:r>
            <a:r>
              <a:rPr lang="en-IN" b="1" dirty="0" err="1"/>
              <a:t>ArtificialIntelligence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/>
              <a:t>Student(x) → </a:t>
            </a:r>
            <a:r>
              <a:rPr lang="en-IN" b="1" dirty="0" err="1"/>
              <a:t>HasID</a:t>
            </a:r>
            <a:r>
              <a:rPr lang="en-IN" b="1" dirty="0"/>
              <a:t>(x)</a:t>
            </a:r>
          </a:p>
          <a:p>
            <a:r>
              <a:rPr lang="en-IN" dirty="0"/>
              <a:t>Now the AI system can use these representations to derive additional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2218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6C56-8FF3-4833-A961-E30F82AC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C14C-6B74-4D7B-A831-7BE0C5E1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7C83A-FBBA-4D61-8491-FD8ECF9D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16" y="50328"/>
            <a:ext cx="10638183" cy="422089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501CEEB-3C23-1D67-0EFB-0056F8B5B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745" y="3953566"/>
            <a:ext cx="10490069" cy="290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03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0F83-1A69-47AC-9934-D8FBF8FE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6" y="109609"/>
            <a:ext cx="10178322" cy="746066"/>
          </a:xfrm>
        </p:spPr>
        <p:txBody>
          <a:bodyPr>
            <a:normAutofit fontScale="90000"/>
          </a:bodyPr>
          <a:lstStyle/>
          <a:p>
            <a:r>
              <a:rPr lang="en-IN" dirty="0"/>
              <a:t>Knowledge representation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785A8B-F086-4534-8505-46C197B1F855}"/>
              </a:ext>
            </a:extLst>
          </p:cNvPr>
          <p:cNvSpPr/>
          <p:nvPr/>
        </p:nvSpPr>
        <p:spPr>
          <a:xfrm>
            <a:off x="1032602" y="1128451"/>
            <a:ext cx="970437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231F20"/>
                </a:solidFill>
                <a:latin typeface="Times New Roman" panose="02020603050405020304" pitchFamily="18" charset="0"/>
              </a:rPr>
              <a:t>The Knowledge Representation models/mechanisms are often based on:</a:t>
            </a:r>
          </a:p>
          <a:p>
            <a:r>
              <a:rPr lang="en-IN" sz="2000" b="0" i="0" u="none" strike="noStrike" baseline="0" dirty="0">
                <a:solidFill>
                  <a:srgbClr val="231F20"/>
                </a:solidFill>
                <a:latin typeface="Symbol" panose="05050102010706020507" pitchFamily="18" charset="2"/>
              </a:rPr>
              <a:t> </a:t>
            </a:r>
            <a:r>
              <a:rPr lang="en-IN" sz="2000" dirty="0">
                <a:solidFill>
                  <a:srgbClr val="231F20"/>
                </a:solidFill>
                <a:latin typeface="Times New Roman" panose="02020603050405020304" pitchFamily="18" charset="0"/>
              </a:rPr>
              <a:t>Logic</a:t>
            </a:r>
          </a:p>
          <a:p>
            <a:r>
              <a:rPr lang="en-IN" sz="2000" b="0" i="0" u="none" strike="noStrike" baseline="0" dirty="0">
                <a:solidFill>
                  <a:srgbClr val="231F20"/>
                </a:solidFill>
                <a:latin typeface="Symbol" panose="05050102010706020507" pitchFamily="18" charset="2"/>
              </a:rPr>
              <a:t> </a:t>
            </a:r>
            <a:r>
              <a:rPr lang="en-IN" sz="2000" dirty="0">
                <a:solidFill>
                  <a:srgbClr val="231F20"/>
                </a:solidFill>
                <a:latin typeface="Times New Roman" panose="02020603050405020304" pitchFamily="18" charset="0"/>
              </a:rPr>
              <a:t>Rules</a:t>
            </a:r>
          </a:p>
          <a:p>
            <a:r>
              <a:rPr lang="en-IN" sz="2000" b="0" i="0" u="none" strike="noStrike" baseline="0" dirty="0">
                <a:solidFill>
                  <a:srgbClr val="231F20"/>
                </a:solidFill>
                <a:latin typeface="Symbol" panose="05050102010706020507" pitchFamily="18" charset="2"/>
              </a:rPr>
              <a:t> </a:t>
            </a:r>
            <a:r>
              <a:rPr lang="en-IN" sz="2000" dirty="0">
                <a:solidFill>
                  <a:srgbClr val="231F20"/>
                </a:solidFill>
                <a:latin typeface="Times New Roman" panose="02020603050405020304" pitchFamily="18" charset="0"/>
              </a:rPr>
              <a:t>Frames</a:t>
            </a:r>
          </a:p>
          <a:p>
            <a:r>
              <a:rPr lang="en-IN" sz="2000" b="0" i="0" u="none" strike="noStrike" baseline="0" dirty="0">
                <a:solidFill>
                  <a:srgbClr val="231F20"/>
                </a:solidFill>
                <a:latin typeface="Symbol" panose="05050102010706020507" pitchFamily="18" charset="2"/>
              </a:rPr>
              <a:t> </a:t>
            </a:r>
            <a:r>
              <a:rPr lang="en-IN" sz="2000" dirty="0">
                <a:solidFill>
                  <a:srgbClr val="231F20"/>
                </a:solidFill>
                <a:latin typeface="Times New Roman" panose="02020603050405020304" pitchFamily="18" charset="0"/>
              </a:rPr>
              <a:t>Semantic Net</a:t>
            </a:r>
            <a:endParaRPr lang="en-IN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BCDAFE-1F44-6507-6F53-18C5AAD01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153" y="1874517"/>
            <a:ext cx="5115827" cy="366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E5983-ADC8-8676-DB89-1839E19EE8EC}"/>
              </a:ext>
            </a:extLst>
          </p:cNvPr>
          <p:cNvSpPr txBox="1"/>
          <p:nvPr/>
        </p:nvSpPr>
        <p:spPr>
          <a:xfrm>
            <a:off x="1136174" y="3032443"/>
            <a:ext cx="35348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732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b="1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rames</a:t>
            </a: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represent a pivotal concept that helps machines understand and interpret complex real-world scenarios.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A5416B-702E-C08E-75E8-C915387A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63" y="4232772"/>
            <a:ext cx="4039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frame consists of a set of attributes and values, forming a template for understanding specific situations.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instance, a "restaurant" frame might include attributes such as "menu," "waitstaff," and "tables," each with its own set of details.</a:t>
            </a:r>
          </a:p>
        </p:txBody>
      </p:sp>
    </p:spTree>
    <p:extLst>
      <p:ext uri="{BB962C8B-B14F-4D97-AF65-F5344CB8AC3E}">
        <p14:creationId xmlns:p14="http://schemas.microsoft.com/office/powerpoint/2010/main" val="9685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6A33-1980-E988-384F-B2F63C47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0CFE4-6A9F-BBBC-932B-770C85A37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 represents knowledge using </a:t>
            </a:r>
            <a:r>
              <a:rPr lang="en-IN" b="1" dirty="0"/>
              <a:t>formal statements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b="1" dirty="0"/>
              <a:t>Human(Socrates)</a:t>
            </a:r>
          </a:p>
          <a:p>
            <a:pPr marL="0" indent="0">
              <a:buNone/>
            </a:pPr>
            <a:r>
              <a:rPr lang="en-IN" b="1" dirty="0"/>
              <a:t>Human(x) → Mortal(x)</a:t>
            </a:r>
          </a:p>
          <a:p>
            <a:pPr marL="0" indent="0">
              <a:buNone/>
            </a:pPr>
            <a:r>
              <a:rPr lang="en-IN" dirty="0"/>
              <a:t>From these two statements:</a:t>
            </a:r>
          </a:p>
          <a:p>
            <a:pPr marL="0" indent="0">
              <a:buNone/>
            </a:pPr>
            <a:r>
              <a:rPr lang="en-IN" b="1" dirty="0"/>
              <a:t>Mortal(Socrates) </a:t>
            </a:r>
            <a:r>
              <a:rPr lang="en-IN" dirty="0"/>
              <a:t>can be inferred.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9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B579-B635-E753-D03F-6FC86B53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A08A-73B2-5636-E6DF-2735CABA9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Rules represent knowledge using </a:t>
            </a:r>
            <a:r>
              <a:rPr lang="en-IN" b="1" dirty="0"/>
              <a:t>IF–THEN conditions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b="1" dirty="0"/>
              <a:t>IF temperature &gt; 100°C</a:t>
            </a:r>
          </a:p>
          <a:p>
            <a:pPr marL="0" indent="0">
              <a:buNone/>
            </a:pPr>
            <a:r>
              <a:rPr lang="en-IN" b="1" dirty="0"/>
              <a:t>THEN overheating = TRUE</a:t>
            </a:r>
          </a:p>
          <a:p>
            <a:pPr marL="0" indent="0">
              <a:buNone/>
            </a:pPr>
            <a:r>
              <a:rPr lang="en-IN" dirty="0"/>
              <a:t>Another AI example:</a:t>
            </a:r>
          </a:p>
          <a:p>
            <a:pPr marL="0" indent="0">
              <a:buNone/>
            </a:pPr>
            <a:r>
              <a:rPr lang="en-IN" b="1" dirty="0"/>
              <a:t>IF patient has fever AND cough</a:t>
            </a:r>
          </a:p>
          <a:p>
            <a:pPr marL="0" indent="0">
              <a:buNone/>
            </a:pPr>
            <a:r>
              <a:rPr lang="en-IN" b="1" dirty="0"/>
              <a:t>THEN </a:t>
            </a:r>
            <a:r>
              <a:rPr lang="en-IN" b="1" dirty="0" err="1"/>
              <a:t>possible_flu</a:t>
            </a:r>
            <a:endParaRPr lang="en-IN" b="1" dirty="0"/>
          </a:p>
          <a:p>
            <a:r>
              <a:rPr lang="en-IN" dirty="0"/>
              <a:t>Rules are widely used in expert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884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1426-AB8A-19F9-7303-4019C17B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46975"/>
          </a:xfrm>
        </p:spPr>
        <p:txBody>
          <a:bodyPr/>
          <a:lstStyle/>
          <a:p>
            <a:r>
              <a:rPr lang="en-IN" dirty="0"/>
              <a:t>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3311-DD93-871D-8D0A-09505CA6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29360"/>
            <a:ext cx="10178322" cy="5079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frame</a:t>
            </a:r>
            <a:r>
              <a:rPr lang="en-IN" dirty="0"/>
              <a:t> represents an object or situation using attributes and values.</a:t>
            </a:r>
          </a:p>
          <a:p>
            <a:pPr marL="0" indent="0">
              <a:buNone/>
            </a:pPr>
            <a:r>
              <a:rPr lang="en-IN" b="1" dirty="0" err="1"/>
              <a:t>Eg:Restaurant</a:t>
            </a:r>
            <a:r>
              <a:rPr lang="en-IN" b="1" dirty="0"/>
              <a:t> frame</a:t>
            </a:r>
            <a:r>
              <a:rPr lang="en-IN" dirty="0"/>
              <a:t>, containing attributes such as:</a:t>
            </a:r>
          </a:p>
          <a:p>
            <a:pPr lvl="0"/>
            <a:r>
              <a:rPr lang="en-IN" dirty="0"/>
              <a:t>Menu </a:t>
            </a:r>
          </a:p>
          <a:p>
            <a:pPr lvl="0"/>
            <a:r>
              <a:rPr lang="en-IN" dirty="0"/>
              <a:t>Waitstaff </a:t>
            </a:r>
          </a:p>
          <a:p>
            <a:pPr lvl="0"/>
            <a:r>
              <a:rPr lang="en-IN" dirty="0"/>
              <a:t>Tables </a:t>
            </a:r>
          </a:p>
          <a:p>
            <a:pPr marL="0" indent="0">
              <a:buNone/>
            </a:pPr>
            <a:r>
              <a:rPr lang="en-IN" dirty="0"/>
              <a:t>We can represent it as:</a:t>
            </a:r>
          </a:p>
          <a:p>
            <a:pPr marL="0" indent="0">
              <a:buNone/>
            </a:pPr>
            <a:r>
              <a:rPr lang="en-IN" b="1" dirty="0"/>
              <a:t>RESTAURANT</a:t>
            </a:r>
          </a:p>
          <a:p>
            <a:pPr marL="0" indent="0">
              <a:buNone/>
            </a:pPr>
            <a:r>
              <a:rPr lang="en-IN" b="1" dirty="0"/>
              <a:t>----------------</a:t>
            </a:r>
          </a:p>
          <a:p>
            <a:pPr marL="0" indent="0">
              <a:buNone/>
            </a:pPr>
            <a:r>
              <a:rPr lang="en-IN" b="1" dirty="0"/>
              <a:t>Menu       → Indian Food</a:t>
            </a:r>
          </a:p>
          <a:p>
            <a:pPr marL="0" indent="0">
              <a:buNone/>
            </a:pPr>
            <a:r>
              <a:rPr lang="en-IN" b="1" dirty="0"/>
              <a:t>Waitstaff  → 5</a:t>
            </a:r>
          </a:p>
          <a:p>
            <a:pPr marL="0" indent="0">
              <a:buNone/>
            </a:pPr>
            <a:r>
              <a:rPr lang="en-IN" b="1" dirty="0"/>
              <a:t>Tables     → 20</a:t>
            </a:r>
          </a:p>
          <a:p>
            <a:pPr marL="0" indent="0">
              <a:buNone/>
            </a:pPr>
            <a:r>
              <a:rPr lang="en-IN" b="1" dirty="0"/>
              <a:t>Location   → Coimbatore</a:t>
            </a:r>
          </a:p>
          <a:p>
            <a:r>
              <a:rPr lang="en-IN" dirty="0"/>
              <a:t>So a frame is similar to a </a:t>
            </a:r>
            <a:r>
              <a:rPr lang="en-IN" b="1" dirty="0"/>
              <a:t>template describing an object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00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6EF9-2E41-765F-1D84-43BF047D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5B91-603B-0812-A16A-FC9B175A3B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A semantic network represents knowledge using </a:t>
            </a:r>
            <a:r>
              <a:rPr lang="en-IN" b="1" dirty="0"/>
              <a:t>nodes and relationships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            is-a</a:t>
            </a:r>
          </a:p>
          <a:p>
            <a:pPr marL="0" indent="0">
              <a:buNone/>
            </a:pPr>
            <a:r>
              <a:rPr lang="en-IN" dirty="0"/>
              <a:t>Dog ------------&gt; Animal</a:t>
            </a:r>
          </a:p>
          <a:p>
            <a:pPr marL="0" indent="0">
              <a:buNone/>
            </a:pPr>
            <a:r>
              <a:rPr lang="en-IN" dirty="0"/>
              <a:t>    |</a:t>
            </a:r>
          </a:p>
          <a:p>
            <a:pPr marL="0" indent="0">
              <a:buNone/>
            </a:pPr>
            <a:r>
              <a:rPr lang="en-IN" dirty="0"/>
              <a:t>    | has</a:t>
            </a:r>
          </a:p>
          <a:p>
            <a:pPr marL="0" indent="0">
              <a:buNone/>
            </a:pPr>
            <a:r>
              <a:rPr lang="en-IN" dirty="0"/>
              <a:t>    ↓</a:t>
            </a:r>
          </a:p>
          <a:p>
            <a:pPr marL="0" indent="0">
              <a:buNone/>
            </a:pPr>
            <a:r>
              <a:rPr lang="en-IN" dirty="0"/>
              <a:t>   Tail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81C90-4873-506F-4F4A-846D94BDBF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lvl="0" indent="0">
              <a:buNone/>
            </a:pPr>
            <a:r>
              <a:rPr lang="en-IN" b="1" dirty="0"/>
              <a:t>Dog = node </a:t>
            </a:r>
          </a:p>
          <a:p>
            <a:pPr marL="0" lvl="0" indent="0">
              <a:buNone/>
            </a:pPr>
            <a:r>
              <a:rPr lang="en-IN" b="1" dirty="0"/>
              <a:t>Animal = node </a:t>
            </a:r>
          </a:p>
          <a:p>
            <a:pPr marL="0" lvl="0" indent="0">
              <a:buNone/>
            </a:pPr>
            <a:r>
              <a:rPr lang="en-IN" b="1" dirty="0"/>
              <a:t>is-a = relationship </a:t>
            </a:r>
          </a:p>
          <a:p>
            <a:pPr marL="0" lvl="0" indent="0">
              <a:buNone/>
            </a:pPr>
            <a:r>
              <a:rPr lang="en-IN" b="1" dirty="0"/>
              <a:t>Tail = another node </a:t>
            </a:r>
          </a:p>
          <a:p>
            <a:pPr marL="0" indent="0">
              <a:buNone/>
            </a:pPr>
            <a:r>
              <a:rPr lang="en-IN" dirty="0"/>
              <a:t>The AI can understand that:</a:t>
            </a:r>
          </a:p>
          <a:p>
            <a:pPr marL="0" indent="0">
              <a:buNone/>
            </a:pPr>
            <a:r>
              <a:rPr lang="en-IN" b="1" dirty="0"/>
              <a:t>Dog → Animal</a:t>
            </a:r>
          </a:p>
          <a:p>
            <a:pPr marL="0" indent="0">
              <a:buNone/>
            </a:pPr>
            <a:r>
              <a:rPr lang="en-IN" dirty="0"/>
              <a:t>and therefore a dog is an animal.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70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E94D-223F-4144-8E33-D537A64E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B3C15-7E7D-4A92-8FAE-92726B60C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22054-DF9B-4700-B28E-0009E430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59" y="246972"/>
            <a:ext cx="10310191" cy="56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07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678" y="271514"/>
            <a:ext cx="9778874" cy="5827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882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CEF-9334-4847-840A-015F5EF1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121" y="0"/>
            <a:ext cx="10178322" cy="914400"/>
          </a:xfrm>
        </p:spPr>
        <p:txBody>
          <a:bodyPr/>
          <a:lstStyle/>
          <a:p>
            <a:r>
              <a:rPr lang="en-IN" dirty="0"/>
              <a:t>Representation &amp;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30FF-9283-4D52-B48A-193D8ADFB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9557" y="823651"/>
            <a:ext cx="4800600" cy="5729549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Spot is a dog.</a:t>
            </a:r>
          </a:p>
          <a:p>
            <a:pPr lvl="1"/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dog(Spot)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Every dog has a tail.</a:t>
            </a:r>
          </a:p>
          <a:p>
            <a:pPr lvl="1"/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 (dog(x) </a:t>
            </a:r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→ </a:t>
            </a:r>
            <a:r>
              <a:rPr lang="en-IN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hastail</a:t>
            </a:r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(x))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Spot has a tail.</a:t>
            </a:r>
          </a:p>
          <a:p>
            <a:pPr lvl="1"/>
            <a:r>
              <a:rPr lang="en-IN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hastail</a:t>
            </a:r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(Spot)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humans are mortal. Socrates is a human.</a:t>
            </a:r>
          </a:p>
          <a:p>
            <a:pPr lvl="1"/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 (Human(x) </a:t>
            </a:r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→ Mortal (x))</a:t>
            </a:r>
          </a:p>
          <a:p>
            <a:pPr lvl="1"/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Human(Socrates)</a:t>
            </a:r>
          </a:p>
          <a:p>
            <a:pPr lvl="1"/>
            <a:r>
              <a:rPr lang="en-IN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Mortal(Socrates)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cats are animals.</a:t>
            </a:r>
          </a:p>
          <a:p>
            <a:pPr lvl="1"/>
            <a:r>
              <a:rPr lang="fr-FR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 (Cat(x) → Animal(x))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8A4FA-80EE-9A47-1637-4137150D1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8766" y="823651"/>
            <a:ext cx="6342997" cy="603434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Cats eat fish.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 (Cat(x) → Eats(x, Fish))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parents love their children.</a:t>
            </a:r>
          </a:p>
          <a:p>
            <a:pPr lvl="1"/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</a:t>
            </a:r>
            <a:r>
              <a:rPr lang="es-ES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x∀y</a:t>
            </a:r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s-ES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Parent</a:t>
            </a:r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s-ES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→ </a:t>
            </a:r>
            <a:r>
              <a:rPr lang="es-ES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Loves</a:t>
            </a:r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s-ES" sz="2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s-E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  <a:endParaRPr lang="en-IN" sz="2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Every student is enrolled in the course Artificial Intelligence.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∀x(Student(x)→Enrolled(x, Artificial Intelligence))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Every author of a book is a person.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∀x (Author(x, Book) → Person(x))</a:t>
            </a:r>
          </a:p>
          <a:p>
            <a:pPr marL="457200" lvl="1" indent="0">
              <a:buNone/>
            </a:pPr>
            <a:endParaRPr lang="en-IN" sz="2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1FB95-CA8C-FBEE-6927-AEFD2E1EFB3F}"/>
              </a:ext>
            </a:extLst>
          </p:cNvPr>
          <p:cNvSpPr txBox="1"/>
          <p:nvPr/>
        </p:nvSpPr>
        <p:spPr>
          <a:xfrm>
            <a:off x="7396480" y="5334000"/>
            <a:ext cx="2865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Note:</a:t>
            </a:r>
          </a:p>
          <a:p>
            <a:r>
              <a:rPr lang="en-IN" b="1" dirty="0"/>
              <a:t>∀x</a:t>
            </a:r>
          </a:p>
          <a:p>
            <a:r>
              <a:rPr lang="en-IN" dirty="0"/>
              <a:t>This </a:t>
            </a:r>
            <a:r>
              <a:rPr lang="en-IN" dirty="0" err="1"/>
              <a:t>means:For</a:t>
            </a:r>
            <a:r>
              <a:rPr lang="en-IN" dirty="0"/>
              <a:t> every 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18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F615-5104-8555-BB15-789967CB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&amp;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4E76-7C59-949E-1343-81ECFB031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∀x (dog(x) → </a:t>
            </a:r>
            <a:r>
              <a:rPr lang="en-US" dirty="0" err="1"/>
              <a:t>hastail</a:t>
            </a:r>
            <a:r>
              <a:rPr lang="en-US" dirty="0"/>
              <a:t>(x))</a:t>
            </a:r>
          </a:p>
          <a:p>
            <a:pPr marL="0" indent="0">
              <a:buNone/>
            </a:pPr>
            <a:r>
              <a:rPr lang="en-IN" b="1" dirty="0"/>
              <a:t>For every x, if x is a dog, then x has a tail.</a:t>
            </a:r>
          </a:p>
          <a:p>
            <a:pPr marL="0" indent="0">
              <a:buNone/>
            </a:pPr>
            <a:r>
              <a:rPr lang="en-IN" dirty="0" err="1"/>
              <a:t>hastail</a:t>
            </a:r>
            <a:r>
              <a:rPr lang="en-IN" dirty="0"/>
              <a:t>(Spot)</a:t>
            </a:r>
          </a:p>
          <a:p>
            <a:pPr marL="0" indent="0">
              <a:buNone/>
            </a:pPr>
            <a:r>
              <a:rPr lang="en-IN" dirty="0"/>
              <a:t>We can obtain it from:</a:t>
            </a:r>
          </a:p>
          <a:p>
            <a:pPr marL="0" indent="0">
              <a:buNone/>
            </a:pPr>
            <a:r>
              <a:rPr lang="en-IN" dirty="0"/>
              <a:t>dog(Spot)</a:t>
            </a:r>
          </a:p>
          <a:p>
            <a:pPr marL="0" indent="0">
              <a:buNone/>
            </a:pPr>
            <a:r>
              <a:rPr lang="en-IN" dirty="0"/>
              <a:t>and</a:t>
            </a:r>
          </a:p>
          <a:p>
            <a:pPr marL="0" indent="0">
              <a:buNone/>
            </a:pPr>
            <a:r>
              <a:rPr lang="en-IN" dirty="0"/>
              <a:t>∀x(dog(x) → </a:t>
            </a:r>
            <a:r>
              <a:rPr lang="en-IN" dirty="0" err="1"/>
              <a:t>hastail</a:t>
            </a:r>
            <a:r>
              <a:rPr lang="en-IN" dirty="0"/>
              <a:t>(x))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EFB72-210D-FFE0-9EF8-A76C1198FE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Reasoning:</a:t>
            </a:r>
          </a:p>
          <a:p>
            <a:pPr marL="0" indent="0">
              <a:buNone/>
            </a:pPr>
            <a:r>
              <a:rPr lang="en-US" b="1" dirty="0"/>
              <a:t>Spot is a dog.</a:t>
            </a:r>
          </a:p>
          <a:p>
            <a:pPr marL="0" indent="0">
              <a:buNone/>
            </a:pPr>
            <a:r>
              <a:rPr lang="en-US" b="1" dirty="0"/>
              <a:t>        ↓</a:t>
            </a:r>
          </a:p>
          <a:p>
            <a:pPr marL="0" indent="0">
              <a:buNone/>
            </a:pPr>
            <a:r>
              <a:rPr lang="en-US" b="1" dirty="0"/>
              <a:t>Every dog has a tail.</a:t>
            </a:r>
          </a:p>
          <a:p>
            <a:pPr marL="0" indent="0">
              <a:buNone/>
            </a:pPr>
            <a:r>
              <a:rPr lang="en-US" b="1" dirty="0"/>
              <a:t>        ↓</a:t>
            </a:r>
          </a:p>
          <a:p>
            <a:pPr marL="0" indent="0">
              <a:buNone/>
            </a:pPr>
            <a:r>
              <a:rPr lang="en-US" b="1" dirty="0"/>
              <a:t>Therefore Spot has a tail.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3295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7400-E98E-2A3F-6ED4-54A308A2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humans are mortal. Socrates is a human.</a:t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C1BA-0805-82CC-FF76-4CC283029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8608060" cy="3619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Reasoning diagram</a:t>
            </a:r>
          </a:p>
          <a:p>
            <a:pPr marL="0" indent="0">
              <a:buNone/>
            </a:pPr>
            <a:r>
              <a:rPr lang="en-IN" dirty="0"/>
              <a:t>                      </a:t>
            </a:r>
            <a:r>
              <a:rPr lang="en-IN" sz="2600" b="1" dirty="0"/>
              <a:t>Rule</a:t>
            </a:r>
          </a:p>
          <a:p>
            <a:pPr marL="0" indent="0">
              <a:buNone/>
            </a:pPr>
            <a:r>
              <a:rPr lang="en-IN" sz="2400" b="1" dirty="0"/>
              <a:t>Human(x) ---------&gt; Mortal(x)</a:t>
            </a:r>
          </a:p>
          <a:p>
            <a:pPr marL="0" indent="0">
              <a:buNone/>
            </a:pPr>
            <a:r>
              <a:rPr lang="en-IN" sz="2400" b="1" dirty="0"/>
              <a:t>   ↑</a:t>
            </a:r>
          </a:p>
          <a:p>
            <a:pPr marL="0" indent="0">
              <a:buNone/>
            </a:pPr>
            <a:r>
              <a:rPr lang="en-IN" sz="2400" b="1" dirty="0"/>
              <a:t>Socrates</a:t>
            </a:r>
          </a:p>
          <a:p>
            <a:pPr marL="0" indent="0">
              <a:buNone/>
            </a:pPr>
            <a:r>
              <a:rPr lang="en-IN" dirty="0"/>
              <a:t>Therefore:</a:t>
            </a:r>
          </a:p>
          <a:p>
            <a:pPr marL="0" indent="0">
              <a:buNone/>
            </a:pPr>
            <a:r>
              <a:rPr lang="en-IN" dirty="0"/>
              <a:t>Socrates is mortal.</a:t>
            </a:r>
          </a:p>
          <a:p>
            <a:pPr marL="0" indent="0">
              <a:buNone/>
            </a:pPr>
            <a:r>
              <a:rPr lang="en-IN" b="1" dirty="0"/>
              <a:t>This is a classic example of deductive reasoning.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25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8A0F-E6F0-BF7B-5800-036A7E96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Cats eat fish.</a:t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0DB2-F2D2-C88C-FABF-E0CA83425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412240"/>
            <a:ext cx="9634220" cy="5232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English:</a:t>
            </a:r>
          </a:p>
          <a:p>
            <a:pPr marL="0" indent="0">
              <a:buNone/>
            </a:pPr>
            <a:r>
              <a:rPr lang="en-IN" dirty="0"/>
              <a:t>Cats eat fish.</a:t>
            </a:r>
          </a:p>
          <a:p>
            <a:pPr marL="0" indent="0">
              <a:buNone/>
            </a:pPr>
            <a:r>
              <a:rPr lang="en-IN" b="1" dirty="0"/>
              <a:t>Representation:</a:t>
            </a:r>
          </a:p>
          <a:p>
            <a:pPr marL="0" indent="0">
              <a:buNone/>
            </a:pPr>
            <a:r>
              <a:rPr lang="en-IN" sz="3500" b="1" dirty="0"/>
              <a:t>∀x (Cat(x) → Eats(x, Fish))</a:t>
            </a:r>
          </a:p>
          <a:p>
            <a:pPr marL="0" indent="0">
              <a:buNone/>
            </a:pPr>
            <a:r>
              <a:rPr lang="en-IN" dirty="0"/>
              <a:t>Here we have a </a:t>
            </a:r>
            <a:r>
              <a:rPr lang="en-IN" b="1" dirty="0"/>
              <a:t>relationship between two entities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Eats(Cat, Fish)</a:t>
            </a:r>
          </a:p>
          <a:p>
            <a:pPr marL="0" indent="0">
              <a:buNone/>
            </a:pPr>
            <a:r>
              <a:rPr lang="en-IN" dirty="0"/>
              <a:t>The predicate Eats() represents an action/relation.</a:t>
            </a:r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b="1" dirty="0"/>
              <a:t>If:</a:t>
            </a:r>
          </a:p>
          <a:p>
            <a:pPr marL="0" indent="0">
              <a:buNone/>
            </a:pPr>
            <a:r>
              <a:rPr lang="en-IN" b="1" dirty="0"/>
              <a:t>Cat(Tom)</a:t>
            </a:r>
          </a:p>
          <a:p>
            <a:pPr marL="0" indent="0">
              <a:buNone/>
            </a:pPr>
            <a:r>
              <a:rPr lang="en-IN" b="1" dirty="0"/>
              <a:t>then:</a:t>
            </a:r>
          </a:p>
          <a:p>
            <a:pPr marL="0" indent="0">
              <a:buNone/>
            </a:pPr>
            <a:r>
              <a:rPr lang="en-IN" b="1" dirty="0"/>
              <a:t>Eats(Tom, Fish)</a:t>
            </a:r>
          </a:p>
          <a:p>
            <a:pPr marL="0" indent="0">
              <a:buNone/>
            </a:pPr>
            <a:r>
              <a:rPr lang="en-IN" dirty="0"/>
              <a:t>can be inferred.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8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8FC9-3061-4213-55F4-864FE7A5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All Parents Love Their Children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67FC-D1E2-9EF0-52E6-1A93D3010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564640"/>
            <a:ext cx="4800600" cy="4340860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∀</a:t>
            </a:r>
            <a:r>
              <a:rPr lang="es-E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x∀y</a:t>
            </a:r>
            <a:r>
              <a:rPr lang="es-E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(Parent(</a:t>
            </a:r>
            <a:r>
              <a:rPr lang="es-E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s-E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→ Loves(</a:t>
            </a:r>
            <a:r>
              <a:rPr lang="es-E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s-E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  <a:endParaRPr lang="en-IN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Parent(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means:</a:t>
            </a:r>
          </a:p>
          <a:p>
            <a:pPr marL="0" indent="0">
              <a:buNone/>
            </a:pPr>
            <a:r>
              <a:rPr lang="en-IN" b="1" dirty="0"/>
              <a:t>x is a parent of y.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Loves(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means:</a:t>
            </a:r>
          </a:p>
          <a:p>
            <a:pPr marL="0" indent="0">
              <a:buNone/>
            </a:pPr>
            <a:r>
              <a:rPr lang="en-IN" b="1" dirty="0"/>
              <a:t>x loves y.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For every x and y, if x is a parent of y, then x loves y.</a:t>
            </a:r>
          </a:p>
        </p:txBody>
      </p:sp>
    </p:spTree>
    <p:extLst>
      <p:ext uri="{BB962C8B-B14F-4D97-AF65-F5344CB8AC3E}">
        <p14:creationId xmlns:p14="http://schemas.microsoft.com/office/powerpoint/2010/main" val="286322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8410-6F0C-A03D-7412-C8286319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 Student Is Enrolled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96D4B-D90F-6F5E-58D3-033384586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188720"/>
            <a:ext cx="9380220" cy="4716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∀x(Student(x) → Enrolled(x, </a:t>
            </a:r>
            <a:r>
              <a:rPr lang="en-IN" dirty="0" err="1"/>
              <a:t>ArtificialIntelligence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Suppose:</a:t>
            </a:r>
          </a:p>
          <a:p>
            <a:pPr marL="0" indent="0">
              <a:buNone/>
            </a:pPr>
            <a:r>
              <a:rPr lang="en-IN" dirty="0"/>
              <a:t>Student(Ravi)</a:t>
            </a:r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/>
              <a:t>Enrolled(</a:t>
            </a:r>
            <a:r>
              <a:rPr lang="en-IN" dirty="0" err="1"/>
              <a:t>Ravi,ArtificialIntelligence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/>
              <a:t>Reasoning</a:t>
            </a:r>
          </a:p>
          <a:p>
            <a:pPr marL="0" indent="0">
              <a:buNone/>
            </a:pPr>
            <a:r>
              <a:rPr lang="en-IN" dirty="0"/>
              <a:t>Student(Ravi)</a:t>
            </a:r>
          </a:p>
          <a:p>
            <a:pPr marL="0" indent="0">
              <a:buNone/>
            </a:pPr>
            <a:r>
              <a:rPr lang="en-IN" dirty="0"/>
              <a:t>      +</a:t>
            </a:r>
          </a:p>
          <a:p>
            <a:pPr marL="0" indent="0">
              <a:buNone/>
            </a:pPr>
            <a:r>
              <a:rPr lang="en-IN" dirty="0"/>
              <a:t>Every student is enrolled in AI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Ravi is enrolled in AI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535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50AB-163A-81AC-D8C1-2ECA5EF4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 Author of a Book Is a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97D7-0BB0-532A-CB6A-9955EEFF63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Representation:</a:t>
            </a:r>
          </a:p>
          <a:p>
            <a:pPr marL="0" indent="0">
              <a:buNone/>
            </a:pPr>
            <a:r>
              <a:rPr lang="en-IN" dirty="0"/>
              <a:t>∀x (Author(x, Book) → Person(x))</a:t>
            </a:r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indent="0">
              <a:buNone/>
            </a:pPr>
            <a:r>
              <a:rPr lang="en-IN" dirty="0"/>
              <a:t>Author(x, Book)</a:t>
            </a:r>
          </a:p>
          <a:p>
            <a:pPr marL="0" indent="0">
              <a:buNone/>
            </a:pPr>
            <a:r>
              <a:rPr lang="en-IN" dirty="0"/>
              <a:t>means:</a:t>
            </a:r>
          </a:p>
          <a:p>
            <a:pPr marL="0" indent="0">
              <a:buNone/>
            </a:pPr>
            <a:r>
              <a:rPr lang="en-IN" dirty="0"/>
              <a:t>x is an author of the book.</a:t>
            </a:r>
          </a:p>
          <a:p>
            <a:pPr marL="0" indent="0">
              <a:buNone/>
            </a:pPr>
            <a:r>
              <a:rPr lang="en-IN" dirty="0"/>
              <a:t>Therefore:</a:t>
            </a:r>
          </a:p>
          <a:p>
            <a:pPr marL="0" indent="0">
              <a:buNone/>
            </a:pPr>
            <a:r>
              <a:rPr lang="en-IN" dirty="0"/>
              <a:t>Person(x)</a:t>
            </a:r>
          </a:p>
          <a:p>
            <a:pPr marL="0" indent="0">
              <a:buNone/>
            </a:pPr>
            <a:r>
              <a:rPr lang="en-IN" dirty="0"/>
              <a:t>can be inferred.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67C80C-EDEE-6F75-1FD5-BE1B32F4D3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If:</a:t>
            </a:r>
          </a:p>
          <a:p>
            <a:pPr marL="0" indent="0">
              <a:buNone/>
            </a:pPr>
            <a:r>
              <a:rPr lang="en-IN" dirty="0"/>
              <a:t>Author(Arundhati, Book)</a:t>
            </a:r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/>
              <a:t>Person(Arundhati)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230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781" y="259880"/>
            <a:ext cx="10149392" cy="5619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215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679" y="279163"/>
            <a:ext cx="9620180" cy="556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338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684" y="1259404"/>
            <a:ext cx="8478503" cy="3662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4367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F1D9-FBFF-4DEF-B125-22D531BB4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Approaches to Knowledge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C3CB5-9FB0-4B07-B5E4-748B1530C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118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C42D-2E27-4503-8BB7-B019621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FA9B-74EE-4BDC-A3BD-678254A2A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Problem solving requires,</a:t>
            </a:r>
          </a:p>
          <a:p>
            <a:pPr lvl="1"/>
            <a:r>
              <a:rPr lang="en-US" sz="2800" dirty="0"/>
              <a:t>Knowledge ( set of facts)</a:t>
            </a:r>
            <a:endParaRPr lang="en-IN" sz="2800" dirty="0"/>
          </a:p>
          <a:p>
            <a:pPr lvl="1"/>
            <a:r>
              <a:rPr lang="en-US" sz="2800" dirty="0"/>
              <a:t>Formal knowledge representation, and</a:t>
            </a:r>
            <a:endParaRPr lang="en-IN" sz="2800" dirty="0"/>
          </a:p>
          <a:p>
            <a:pPr lvl="1"/>
            <a:r>
              <a:rPr lang="en-US" sz="2800" dirty="0"/>
              <a:t>Moreover, Conversion of informal knowledge to a formal knowledge that is the conversion of implicit knowledge to explicit knowledge.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24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ADA4-EC4D-41DB-B4B2-466EF101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Mapping between Facts and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7154-E253-4430-ABF0-481E3AEA6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598" y="1535685"/>
            <a:ext cx="10178322" cy="3593591"/>
          </a:xfrm>
        </p:spPr>
        <p:txBody>
          <a:bodyPr/>
          <a:lstStyle/>
          <a:p>
            <a:pPr lvl="1"/>
            <a:r>
              <a:rPr lang="en-US" dirty="0"/>
              <a:t>Knowledge is a collection of facts from some domain.</a:t>
            </a:r>
            <a:endParaRPr lang="en-IN" sz="2000" dirty="0"/>
          </a:p>
          <a:p>
            <a:pPr lvl="1"/>
            <a:r>
              <a:rPr lang="en-US" dirty="0"/>
              <a:t>Also, We need a representation of “</a:t>
            </a:r>
            <a:r>
              <a:rPr lang="en-US" b="1" dirty="0">
                <a:solidFill>
                  <a:srgbClr val="0070C0"/>
                </a:solidFill>
              </a:rPr>
              <a:t>facts” that can manipulate by a program</a:t>
            </a:r>
            <a:r>
              <a:rPr lang="en-US" dirty="0"/>
              <a:t>.</a:t>
            </a:r>
            <a:endParaRPr lang="en-IN" sz="2000" dirty="0"/>
          </a:p>
          <a:p>
            <a:pPr lvl="1"/>
            <a:r>
              <a:rPr lang="en-US" dirty="0"/>
              <a:t>Moreover, </a:t>
            </a:r>
            <a:r>
              <a:rPr lang="en-US" b="1" dirty="0">
                <a:solidFill>
                  <a:srgbClr val="0070C0"/>
                </a:solidFill>
              </a:rPr>
              <a:t>Normal English is insufficient, too hard currently for a computer program to draw inferences in natural languages</a:t>
            </a:r>
            <a:r>
              <a:rPr lang="en-US" dirty="0"/>
              <a:t>.</a:t>
            </a:r>
            <a:endParaRPr lang="en-IN" sz="2000" dirty="0"/>
          </a:p>
          <a:p>
            <a:pPr lvl="1"/>
            <a:r>
              <a:rPr lang="en-US" dirty="0"/>
              <a:t>Thus some symbolic representation is necessary.</a:t>
            </a:r>
            <a:endParaRPr lang="en-IN" sz="20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F272-C35E-8242-E054-465B81A4E653}"/>
              </a:ext>
            </a:extLst>
          </p:cNvPr>
          <p:cNvSpPr txBox="1"/>
          <p:nvPr/>
        </p:nvSpPr>
        <p:spPr>
          <a:xfrm>
            <a:off x="1119598" y="3698115"/>
            <a:ext cx="4976402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Consider:</a:t>
            </a:r>
          </a:p>
          <a:p>
            <a:r>
              <a:rPr lang="en-IN" dirty="0"/>
              <a:t>"Ravi is a good student and he usually attends classes."</a:t>
            </a:r>
          </a:p>
          <a:p>
            <a:r>
              <a:rPr lang="en-IN" dirty="0"/>
              <a:t>For humans, this is understandable.</a:t>
            </a:r>
          </a:p>
          <a:p>
            <a:r>
              <a:rPr lang="en-IN" dirty="0"/>
              <a:t>But what exactly does </a:t>
            </a:r>
            <a:r>
              <a:rPr lang="en-IN" b="1" dirty="0"/>
              <a:t>good</a:t>
            </a:r>
            <a:r>
              <a:rPr lang="en-IN" dirty="0"/>
              <a:t> mean?</a:t>
            </a:r>
          </a:p>
          <a:p>
            <a:r>
              <a:rPr lang="en-IN" dirty="0"/>
              <a:t>Does it mean:</a:t>
            </a:r>
          </a:p>
          <a:p>
            <a:pPr lvl="0"/>
            <a:r>
              <a:rPr lang="en-IN" dirty="0"/>
              <a:t>High marks? </a:t>
            </a:r>
          </a:p>
          <a:p>
            <a:pPr lvl="0"/>
            <a:r>
              <a:rPr lang="en-IN" dirty="0"/>
              <a:t>Good attendance? </a:t>
            </a:r>
          </a:p>
          <a:p>
            <a:pPr lvl="0"/>
            <a:r>
              <a:rPr lang="en-IN" dirty="0"/>
              <a:t>Good behaviour?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C3EF2-77CF-E48B-B28F-90D4CC772B44}"/>
              </a:ext>
            </a:extLst>
          </p:cNvPr>
          <p:cNvSpPr txBox="1"/>
          <p:nvPr/>
        </p:nvSpPr>
        <p:spPr>
          <a:xfrm>
            <a:off x="6575518" y="3810000"/>
            <a:ext cx="497640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Therefore, we convert it into structured knowledge:</a:t>
            </a:r>
          </a:p>
          <a:p>
            <a:endParaRPr lang="en-IN" dirty="0"/>
          </a:p>
          <a:p>
            <a:r>
              <a:rPr lang="en-IN" dirty="0"/>
              <a:t>Student(Ravi)</a:t>
            </a:r>
          </a:p>
          <a:p>
            <a:r>
              <a:rPr lang="en-IN" dirty="0"/>
              <a:t>Attendance(</a:t>
            </a:r>
            <a:r>
              <a:rPr lang="en-IN" dirty="0" err="1"/>
              <a:t>Ravi,High</a:t>
            </a:r>
            <a:r>
              <a:rPr lang="en-IN" dirty="0"/>
              <a:t>)</a:t>
            </a:r>
          </a:p>
          <a:p>
            <a:r>
              <a:rPr lang="en-IN" dirty="0"/>
              <a:t>Marks(Ravi,90)</a:t>
            </a:r>
          </a:p>
          <a:p>
            <a:endParaRPr lang="en-IN" dirty="0"/>
          </a:p>
          <a:p>
            <a:r>
              <a:rPr lang="en-IN" dirty="0"/>
              <a:t>Now the computer can process the information more reliably.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097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D34DE-5B65-4666-B976-FB6F38F6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good knowledge representation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F6B4-A9C6-4A15-9EDA-A49BDC96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423557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sz="3800" b="1" dirty="0">
                <a:solidFill>
                  <a:srgbClr val="C00000"/>
                </a:solidFill>
              </a:rPr>
              <a:t>Representational Adequacy</a:t>
            </a:r>
            <a:endParaRPr lang="en-IN" sz="3800" b="1" dirty="0">
              <a:solidFill>
                <a:srgbClr val="C00000"/>
              </a:solidFill>
            </a:endParaRPr>
          </a:p>
          <a:p>
            <a:pPr lvl="1"/>
            <a:r>
              <a:rPr lang="en-US" sz="3400" dirty="0"/>
              <a:t>The </a:t>
            </a:r>
            <a:r>
              <a:rPr lang="en-US" sz="3400" b="1" dirty="0">
                <a:solidFill>
                  <a:srgbClr val="0070C0"/>
                </a:solidFill>
              </a:rPr>
              <a:t>ability to represent all kinds of knowledge</a:t>
            </a:r>
            <a:r>
              <a:rPr lang="en-US" sz="3400" dirty="0"/>
              <a:t> that are needed in that domain.</a:t>
            </a:r>
            <a:endParaRPr lang="en-IN" sz="3800" dirty="0"/>
          </a:p>
          <a:p>
            <a:pPr lvl="0"/>
            <a:r>
              <a:rPr lang="en-US" sz="3800" b="1" dirty="0">
                <a:solidFill>
                  <a:srgbClr val="C00000"/>
                </a:solidFill>
              </a:rPr>
              <a:t>Inferential Adequacy</a:t>
            </a:r>
            <a:endParaRPr lang="en-IN" sz="3800" b="1" dirty="0">
              <a:solidFill>
                <a:srgbClr val="C00000"/>
              </a:solidFill>
            </a:endParaRPr>
          </a:p>
          <a:p>
            <a:pPr lvl="1"/>
            <a:r>
              <a:rPr lang="en-US" sz="3400" dirty="0"/>
              <a:t>Also, </a:t>
            </a:r>
            <a:r>
              <a:rPr lang="en-US" sz="3400" b="1" dirty="0"/>
              <a:t>The ability to manipulate the representational structures to </a:t>
            </a:r>
            <a:r>
              <a:rPr lang="en-US" sz="3400" b="1" dirty="0">
                <a:solidFill>
                  <a:srgbClr val="0070C0"/>
                </a:solidFill>
              </a:rPr>
              <a:t>derive new structures</a:t>
            </a:r>
            <a:r>
              <a:rPr lang="en-US" sz="3400" b="1" dirty="0"/>
              <a:t> corresponding to new knowledge inferred from old.</a:t>
            </a:r>
            <a:endParaRPr lang="en-IN" sz="3800" b="1" dirty="0"/>
          </a:p>
          <a:p>
            <a:pPr lvl="0"/>
            <a:r>
              <a:rPr lang="en-US" sz="3800" b="1" dirty="0">
                <a:solidFill>
                  <a:srgbClr val="C00000"/>
                </a:solidFill>
              </a:rPr>
              <a:t>Inferential Efficiency</a:t>
            </a:r>
            <a:endParaRPr lang="en-IN" sz="3800" b="1" dirty="0">
              <a:solidFill>
                <a:srgbClr val="C00000"/>
              </a:solidFill>
            </a:endParaRPr>
          </a:p>
          <a:p>
            <a:pPr lvl="1"/>
            <a:r>
              <a:rPr lang="en-US" sz="3400" dirty="0"/>
              <a:t>The </a:t>
            </a:r>
            <a:r>
              <a:rPr lang="en-US" sz="3400" b="1" dirty="0">
                <a:solidFill>
                  <a:srgbClr val="0070C0"/>
                </a:solidFill>
              </a:rPr>
              <a:t>ability to incorporate additional information into the knowledge</a:t>
            </a:r>
            <a:r>
              <a:rPr lang="en-US" sz="3400" dirty="0"/>
              <a:t> structure that can be used to focus the attention of the inference mechanisms in the most promising direction.</a:t>
            </a:r>
            <a:endParaRPr lang="en-IN" sz="3800" dirty="0"/>
          </a:p>
          <a:p>
            <a:pPr lvl="0"/>
            <a:r>
              <a:rPr lang="en-US" sz="3800" b="1" dirty="0">
                <a:solidFill>
                  <a:srgbClr val="C00000"/>
                </a:solidFill>
              </a:rPr>
              <a:t>Acquisitional Efficiency</a:t>
            </a:r>
            <a:endParaRPr lang="en-IN" sz="3800" b="1" dirty="0">
              <a:solidFill>
                <a:srgbClr val="C00000"/>
              </a:solidFill>
            </a:endParaRPr>
          </a:p>
          <a:p>
            <a:pPr lvl="1"/>
            <a:r>
              <a:rPr lang="en-US" sz="3400" dirty="0"/>
              <a:t>Moreover, The ability to </a:t>
            </a:r>
            <a:r>
              <a:rPr lang="en-US" sz="3400" b="1" dirty="0">
                <a:solidFill>
                  <a:srgbClr val="0070C0"/>
                </a:solidFill>
              </a:rPr>
              <a:t>acquire new knowledge using automatic methods </a:t>
            </a:r>
            <a:r>
              <a:rPr lang="en-US" sz="3400" dirty="0"/>
              <a:t>wherever possible rather than reliance on human intervention.</a:t>
            </a:r>
            <a:endParaRPr lang="en-IN" sz="3800" dirty="0"/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8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B4A7-2F52-E832-E615-226E4899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Representational Adequacy</a:t>
            </a:r>
            <a:br>
              <a:rPr lang="en-IN" sz="5400" b="1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D1CE-FF68-AD1B-8E9B-D42E55AD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26160"/>
            <a:ext cx="10178322" cy="554735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/>
              <a:t>Meaning</a:t>
            </a:r>
          </a:p>
          <a:p>
            <a:r>
              <a:rPr lang="en-IN" sz="7200" dirty="0"/>
              <a:t>The system should be able to represent </a:t>
            </a:r>
            <a:r>
              <a:rPr lang="en-IN" sz="7200" b="1" dirty="0"/>
              <a:t>all the necessary knowledge</a:t>
            </a:r>
            <a:r>
              <a:rPr lang="en-IN" sz="7200" dirty="0"/>
              <a:t> of the domain.</a:t>
            </a:r>
          </a:p>
          <a:p>
            <a:pPr marL="0" indent="0">
              <a:buNone/>
            </a:pPr>
            <a:r>
              <a:rPr lang="en-IN" sz="7200" b="1" dirty="0"/>
              <a:t>Example</a:t>
            </a:r>
          </a:p>
          <a:p>
            <a:pPr marL="0" indent="0">
              <a:buNone/>
            </a:pPr>
            <a:r>
              <a:rPr lang="en-IN" sz="7200" dirty="0"/>
              <a:t>For a university system, we may need:</a:t>
            </a:r>
          </a:p>
          <a:p>
            <a:r>
              <a:rPr lang="en-IN" sz="7200" dirty="0"/>
              <a:t>Student</a:t>
            </a:r>
          </a:p>
          <a:p>
            <a:r>
              <a:rPr lang="en-IN" sz="7200" dirty="0"/>
              <a:t>Teacher</a:t>
            </a:r>
          </a:p>
          <a:p>
            <a:r>
              <a:rPr lang="en-IN" sz="7200" dirty="0"/>
              <a:t>Course</a:t>
            </a:r>
          </a:p>
          <a:p>
            <a:r>
              <a:rPr lang="en-IN" sz="7200" dirty="0"/>
              <a:t>Department</a:t>
            </a:r>
          </a:p>
          <a:p>
            <a:r>
              <a:rPr lang="en-IN" sz="7200" dirty="0" err="1"/>
              <a:t>Enrollment</a:t>
            </a:r>
            <a:endParaRPr lang="en-IN" sz="7200" dirty="0"/>
          </a:p>
          <a:p>
            <a:r>
              <a:rPr lang="en-IN" sz="7200" dirty="0"/>
              <a:t>Marks</a:t>
            </a:r>
          </a:p>
          <a:p>
            <a:r>
              <a:rPr lang="en-IN" sz="7200" dirty="0"/>
              <a:t>Attendance</a:t>
            </a:r>
          </a:p>
          <a:p>
            <a:pPr marL="0" indent="0">
              <a:buNone/>
            </a:pPr>
            <a:r>
              <a:rPr lang="en-IN" sz="7200" b="1" dirty="0"/>
              <a:t>If the KR system cannot represent relationships such as:</a:t>
            </a:r>
          </a:p>
          <a:p>
            <a:pPr marL="0" indent="0">
              <a:buNone/>
            </a:pPr>
            <a:r>
              <a:rPr lang="en-IN" sz="7200" b="1" dirty="0"/>
              <a:t>Student → enrolled in → Course</a:t>
            </a:r>
          </a:p>
          <a:p>
            <a:pPr marL="0" indent="0">
              <a:buNone/>
            </a:pPr>
            <a:r>
              <a:rPr lang="en-IN" sz="7200" b="1" dirty="0"/>
              <a:t>then it does not have sufficient representational adequacy.</a:t>
            </a:r>
          </a:p>
          <a:p>
            <a:pPr marL="0" indent="0">
              <a:buNone/>
            </a:pPr>
            <a:r>
              <a:rPr lang="en-IN" sz="7200" b="1" dirty="0">
                <a:solidFill>
                  <a:srgbClr val="FF0000"/>
                </a:solidFill>
              </a:rPr>
              <a:t>Simple definition</a:t>
            </a:r>
          </a:p>
          <a:p>
            <a:r>
              <a:rPr lang="en-IN" sz="7200" b="1" dirty="0"/>
              <a:t>Can the system represent the required knowledge?</a:t>
            </a:r>
            <a:endParaRPr lang="en-IN" sz="7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510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770-AED9-A2D3-A9A2-D123340B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Inferential Adequacy</a:t>
            </a:r>
            <a:br>
              <a:rPr lang="en-IN" sz="5400" b="1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133B-9C6A-8FD2-0031-59FC785C7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56080"/>
            <a:ext cx="10178322" cy="48195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able to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new knowledge from existing knowledge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Given: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Student(Ravi)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Student(x) → Enrolled(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x,AI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derive: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Enrolled(</a:t>
            </a:r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Ravi,AI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definition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system derive new knowledge?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406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D1A7-E1E3-88B8-6599-91B79D4D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Inferential Efficiency</a:t>
            </a:r>
            <a:br>
              <a:rPr lang="en-IN" sz="5400" b="1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B99DE-ED55-A080-A4DF-CA627A08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perform reasoning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knowledge base contains:</a:t>
            </a:r>
          </a:p>
          <a:p>
            <a:pPr marL="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1,000,000 facts</a:t>
            </a:r>
          </a:p>
          <a:p>
            <a:pPr marL="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want to determine:</a:t>
            </a:r>
          </a:p>
          <a:p>
            <a:pPr marL="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Ravi enrolled in AI?</a:t>
            </a:r>
          </a:p>
          <a:p>
            <a:pPr marL="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KR system should quickly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relevant information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checking every unrelated fact.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definition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system reason efficiently?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388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8DC5-85A2-B36C-B2D2-5464FE44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Acquisitional Efficiency</a:t>
            </a:r>
            <a:br>
              <a:rPr lang="en-IN" sz="5400" b="1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5236F-51B0-636A-FF0D-703835850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64641"/>
            <a:ext cx="10178322" cy="4314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able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new knowledge easily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preferably automatically.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an AI medical system can receive new information: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has fever.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has cough.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has fatigue.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add it to its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definition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system easily learn/acquire new knowledge?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340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470" y="119002"/>
            <a:ext cx="10260530" cy="6029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935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91" y="1089871"/>
            <a:ext cx="9522416" cy="367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3863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7334-A7FE-494C-8740-3CAB10D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93" y="132128"/>
            <a:ext cx="10178322" cy="85927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Approaches to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1A0E-FECB-4566-B40C-779DAFCE5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817178"/>
            <a:ext cx="10178322" cy="3593591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Knowledge</a:t>
            </a:r>
          </a:p>
          <a:p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Inheritable knowledge</a:t>
            </a:r>
          </a:p>
          <a:p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Inferential knowledge</a:t>
            </a:r>
          </a:p>
          <a:p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Procedural Knowledge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66B51-B432-1F3B-FEAE-48E41B8D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91" y="604699"/>
            <a:ext cx="7042508" cy="1854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0947F0-A8D8-B656-497A-923D42200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0" y="2604833"/>
            <a:ext cx="6975131" cy="1911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B785A4-5479-A32D-69ED-3C7D84212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492" y="4621792"/>
            <a:ext cx="7042508" cy="18542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5BCECF-7816-6B99-2EF5-286790DCE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66" y="2931565"/>
            <a:ext cx="5149491" cy="38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58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7882-5D8A-9BB7-D921-CC6146BB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Points to remember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BE468-8C6A-DA60-39B2-D02DD2234772}"/>
              </a:ext>
            </a:extLst>
          </p:cNvPr>
          <p:cNvSpPr txBox="1"/>
          <p:nvPr/>
        </p:nvSpPr>
        <p:spPr>
          <a:xfrm>
            <a:off x="2296160" y="1874517"/>
            <a:ext cx="8382000" cy="23391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Relational     → relationships</a:t>
            </a:r>
          </a:p>
          <a:p>
            <a:r>
              <a:rPr lang="en-US" sz="3200" dirty="0"/>
              <a:t>Inheritable    → inheritance</a:t>
            </a:r>
          </a:p>
          <a:p>
            <a:r>
              <a:rPr lang="en-US" sz="3200" dirty="0"/>
              <a:t>Inferential    → reasoning</a:t>
            </a:r>
          </a:p>
          <a:p>
            <a:r>
              <a:rPr lang="en-US" sz="3200" dirty="0"/>
              <a:t>Procedural     → how to do something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57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A295-2A6E-EBA6-CBBF-FF2A519A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Approaches to knowledge representation - summary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030F11-A8A2-8B16-7B8D-D3179EBB56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61D04-2ABB-387A-3F4A-D060C8DF1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4517"/>
            <a:ext cx="4873565" cy="3619500"/>
          </a:xfrm>
          <a:prstGeom prst="rect">
            <a:avLst/>
          </a:prstGeom>
        </p:spPr>
      </p:pic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3828E189-E631-7CD7-CFC5-62766668F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638" y="1109531"/>
            <a:ext cx="7166409" cy="536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96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AD0A-7779-49BB-AC00-FD6E7BC3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178322" cy="798897"/>
          </a:xfrm>
        </p:spPr>
        <p:txBody>
          <a:bodyPr/>
          <a:lstStyle/>
          <a:p>
            <a:r>
              <a:rPr lang="en-IN" dirty="0"/>
              <a:t>Relational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4D3EC-21EA-4D81-AB68-2A276E44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276" y="908433"/>
            <a:ext cx="10515600" cy="4351338"/>
          </a:xfrm>
        </p:spPr>
        <p:txBody>
          <a:bodyPr>
            <a:noAutofit/>
          </a:bodyPr>
          <a:lstStyle/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/>
              <a:tabLst>
                <a:tab pos="11684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simplest way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represent declarative facts is a set of relations of the same sort used in the database system.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/>
              <a:tabLst>
                <a:tab pos="11684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Provides a framework to compare two objects based on equivalent attributes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Any instance in which two different objects are compared is a relational type of knowledge.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/>
              <a:tabLst>
                <a:tab pos="11684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table below shows a simple way to store facts.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Font typeface="Symbol" panose="05050102010706020507" pitchFamily="18" charset="2"/>
              <a:buChar char=""/>
              <a:tabLst>
                <a:tab pos="11684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facts about a set of objects are put systematically in columns.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Font typeface="Symbol" panose="05050102010706020507" pitchFamily="18" charset="2"/>
              <a:buChar char=""/>
              <a:tabLst>
                <a:tab pos="11684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representation provides little opportunity for inference.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1684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 startAt="4"/>
              <a:tabLst>
                <a:tab pos="711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Given the facts, it is not possible to answer a simple question such as: “Who is </a:t>
            </a:r>
            <a:r>
              <a:rPr lang="en-US" alt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brother of Ruth?”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 startAt="4"/>
              <a:tabLst>
                <a:tab pos="711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But if a procedure for finding the heaviest player is provided, then these facts will enable that procedure to compute an answer.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1F1F"/>
              </a:buClr>
              <a:buSzPct val="100000"/>
              <a:buFont typeface="+mj-lt"/>
              <a:buAutoNum type="alphaUcPeriod" startAt="4"/>
              <a:tabLst>
                <a:tab pos="711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Moreover, We can ask things like who “bats – left” and “throws – right”.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600" dirty="0"/>
          </a:p>
        </p:txBody>
      </p:sp>
      <p:pic>
        <p:nvPicPr>
          <p:cNvPr id="10" name="image33.jpeg">
            <a:extLst>
              <a:ext uri="{FF2B5EF4-FFF2-40B4-BE49-F238E27FC236}">
                <a16:creationId xmlns:a16="http://schemas.microsoft.com/office/drawing/2014/main" id="{EC12A16B-F5C5-4060-BA94-3A530FDF8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801" y="3313497"/>
            <a:ext cx="5204792" cy="151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943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84D9-C7C5-74F7-2C86-335AEC39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Knowledge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EF13E6D-D2DB-839D-D6ED-1923745A8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841631"/>
              </p:ext>
            </p:extLst>
          </p:nvPr>
        </p:nvGraphicFramePr>
        <p:xfrm>
          <a:off x="3918315" y="1512570"/>
          <a:ext cx="4845048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5016">
                  <a:extLst>
                    <a:ext uri="{9D8B030D-6E8A-4147-A177-3AD203B41FA5}">
                      <a16:colId xmlns:a16="http://schemas.microsoft.com/office/drawing/2014/main" val="2242610141"/>
                    </a:ext>
                  </a:extLst>
                </a:gridCol>
                <a:gridCol w="1615016">
                  <a:extLst>
                    <a:ext uri="{9D8B030D-6E8A-4147-A177-3AD203B41FA5}">
                      <a16:colId xmlns:a16="http://schemas.microsoft.com/office/drawing/2014/main" val="526270140"/>
                    </a:ext>
                  </a:extLst>
                </a:gridCol>
                <a:gridCol w="1615016">
                  <a:extLst>
                    <a:ext uri="{9D8B030D-6E8A-4147-A177-3AD203B41FA5}">
                      <a16:colId xmlns:a16="http://schemas.microsoft.com/office/drawing/2014/main" val="1904724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Mark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1207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7035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566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1554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B345B4-3B98-03D5-CE58-A31BC4FF0E91}"/>
              </a:ext>
            </a:extLst>
          </p:cNvPr>
          <p:cNvSpPr txBox="1"/>
          <p:nvPr/>
        </p:nvSpPr>
        <p:spPr>
          <a:xfrm>
            <a:off x="1483360" y="3515360"/>
            <a:ext cx="9347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Why "relational"?</a:t>
            </a:r>
          </a:p>
          <a:p>
            <a:r>
              <a:rPr lang="en-IN" sz="2800" dirty="0"/>
              <a:t>Because information is stored as relationships between objects.</a:t>
            </a:r>
          </a:p>
          <a:p>
            <a:r>
              <a:rPr lang="en-IN" sz="2800" dirty="0"/>
              <a:t>For example:</a:t>
            </a:r>
          </a:p>
          <a:p>
            <a:r>
              <a:rPr lang="en-IN" sz="2800" b="1" dirty="0"/>
              <a:t>Enrolled(</a:t>
            </a:r>
            <a:r>
              <a:rPr lang="en-IN" sz="2800" b="1" dirty="0" err="1"/>
              <a:t>Ravi,AI</a:t>
            </a:r>
            <a:r>
              <a:rPr lang="en-IN" sz="2800" b="1" dirty="0"/>
              <a:t>)</a:t>
            </a:r>
          </a:p>
          <a:p>
            <a:r>
              <a:rPr lang="en-IN" sz="2800" dirty="0"/>
              <a:t>means:</a:t>
            </a:r>
          </a:p>
          <a:p>
            <a:r>
              <a:rPr lang="en-IN" sz="2800" dirty="0"/>
              <a:t>Ravi is related to AI through the </a:t>
            </a:r>
            <a:r>
              <a:rPr lang="en-IN" sz="2800" b="1" dirty="0"/>
              <a:t>Enrolled </a:t>
            </a:r>
            <a:r>
              <a:rPr lang="en-IN" sz="2800" dirty="0"/>
              <a:t>relationship.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322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ED28-38D3-9118-CF99-9705DC8E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1AE155-B72A-D616-0DAA-3092A52F3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972534"/>
              </p:ext>
            </p:extLst>
          </p:nvPr>
        </p:nvGraphicFramePr>
        <p:xfrm>
          <a:off x="3918314" y="1874517"/>
          <a:ext cx="484505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2525">
                  <a:extLst>
                    <a:ext uri="{9D8B030D-6E8A-4147-A177-3AD203B41FA5}">
                      <a16:colId xmlns:a16="http://schemas.microsoft.com/office/drawing/2014/main" val="4008303644"/>
                    </a:ext>
                  </a:extLst>
                </a:gridCol>
                <a:gridCol w="2422525">
                  <a:extLst>
                    <a:ext uri="{9D8B030D-6E8A-4147-A177-3AD203B41FA5}">
                      <a16:colId xmlns:a16="http://schemas.microsoft.com/office/drawing/2014/main" val="866623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35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Kumar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36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Kumar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5446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655EFC-FCF1-D13B-85AB-5C6785349A52}"/>
              </a:ext>
            </a:extLst>
          </p:cNvPr>
          <p:cNvSpPr txBox="1"/>
          <p:nvPr/>
        </p:nvSpPr>
        <p:spPr>
          <a:xfrm>
            <a:off x="1828800" y="3332480"/>
            <a:ext cx="96012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But simply storing the data does not automatically tell us:</a:t>
            </a:r>
          </a:p>
          <a:p>
            <a:r>
              <a:rPr lang="en-IN" sz="2800" dirty="0">
                <a:solidFill>
                  <a:srgbClr val="FF0000"/>
                </a:solidFill>
              </a:rPr>
              <a:t>Who is the brother of Anu?</a:t>
            </a:r>
          </a:p>
          <a:p>
            <a:r>
              <a:rPr lang="en-IN" sz="2800" dirty="0"/>
              <a:t>We need an </a:t>
            </a:r>
            <a:r>
              <a:rPr lang="en-IN" sz="2800" b="1" dirty="0"/>
              <a:t>additional rule</a:t>
            </a:r>
            <a:r>
              <a:rPr lang="en-IN" sz="2800" dirty="0"/>
              <a:t>:</a:t>
            </a:r>
          </a:p>
          <a:p>
            <a:r>
              <a:rPr lang="en-IN" sz="2800" dirty="0"/>
              <a:t>If two people have the </a:t>
            </a:r>
            <a:r>
              <a:rPr lang="en-IN" sz="2800" u="sng" dirty="0"/>
              <a:t>same parent, </a:t>
            </a:r>
            <a:r>
              <a:rPr lang="en-IN" sz="2800" dirty="0"/>
              <a:t>then they may be siblings.</a:t>
            </a:r>
          </a:p>
          <a:p>
            <a:endParaRPr lang="en-IN" sz="2800" dirty="0"/>
          </a:p>
          <a:p>
            <a:r>
              <a:rPr lang="en-IN" sz="2800" dirty="0"/>
              <a:t>So relational representation mainly stores facts; </a:t>
            </a:r>
            <a:r>
              <a:rPr lang="en-IN" sz="2800" b="1" dirty="0"/>
              <a:t>additional inference mechanisms are required for reasoning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023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80EA-1D77-4170-AAE0-CF5640663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43" y="132128"/>
            <a:ext cx="10178322" cy="56089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Inheritable Knowledge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4D77-5AF1-4D70-9A0E-F4CD37FC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426" y="1154283"/>
            <a:ext cx="10178322" cy="4969822"/>
          </a:xfrm>
        </p:spPr>
        <p:txBody>
          <a:bodyPr>
            <a:normAutofit fontScale="92500"/>
          </a:bodyPr>
          <a:lstStyle/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knowledge </a:t>
            </a:r>
            <a:r>
              <a:rPr lang="en-US" sz="2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elements inherit attributes from their parents.</a:t>
            </a:r>
            <a:endParaRPr lang="en-IN" sz="2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knowledge embodied in the design hierarchies found in the functional, physical and process domains.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Within the hierarchy,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elements inherit attributes from their parents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but in many cases,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 all attributes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of the parent elements prescribed to the child elements.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Also, The inheritance is a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powerful form of inference, but not adequate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Moreover, The basic KR (Knowledge Representation) needs to augment with inference mechanism.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Property inheritance:  The objects or elements of specific classes inherit attributes and values from more general classes. 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So, the classes organized in a generalized hierarchy.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409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E1ED-2ABC-0B2C-FFE6-16C49795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46975"/>
          </a:xfrm>
        </p:spPr>
        <p:txBody>
          <a:bodyPr/>
          <a:lstStyle/>
          <a:p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Inheritable Knowledge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398DD-8EC1-6BE1-1EDB-F96A5B06A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91920"/>
            <a:ext cx="10178322" cy="53238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This is similar to </a:t>
            </a:r>
            <a:r>
              <a:rPr lang="en-IN" b="1" dirty="0"/>
              <a:t>inheritance in Object-Oriented Programming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Animal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           /    \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         Dog     Cat</a:t>
            </a:r>
          </a:p>
          <a:p>
            <a:pPr marL="0" indent="0">
              <a:buNone/>
            </a:pPr>
            <a:r>
              <a:rPr lang="en-IN" dirty="0"/>
              <a:t>Suppose: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Animal → </a:t>
            </a:r>
            <a:r>
              <a:rPr lang="en-IN" dirty="0" err="1">
                <a:solidFill>
                  <a:srgbClr val="FF0000"/>
                </a:solidFill>
              </a:rPr>
              <a:t>hasEyes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Animal → breathes</a:t>
            </a:r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Dog → </a:t>
            </a:r>
            <a:r>
              <a:rPr lang="en-IN" dirty="0" err="1">
                <a:solidFill>
                  <a:srgbClr val="FF0000"/>
                </a:solidFill>
              </a:rPr>
              <a:t>hasEyes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Dog → breathes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Cat → </a:t>
            </a:r>
            <a:r>
              <a:rPr lang="en-IN" dirty="0" err="1">
                <a:solidFill>
                  <a:srgbClr val="FF0000"/>
                </a:solidFill>
              </a:rPr>
              <a:t>hasEyes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Cat → breathes</a:t>
            </a:r>
          </a:p>
          <a:p>
            <a:pPr marL="0" indent="0">
              <a:buNone/>
            </a:pPr>
            <a:r>
              <a:rPr lang="en-IN" dirty="0"/>
              <a:t>The child classes inherit properties from the parent.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945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DDB7-2F93-4AAD-AD72-65D3FA36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17" y="89080"/>
            <a:ext cx="10178322" cy="70534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Inheritable Knowledge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62" y="938584"/>
            <a:ext cx="5444647" cy="235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34.png">
            <a:extLst>
              <a:ext uri="{FF2B5EF4-FFF2-40B4-BE49-F238E27FC236}">
                <a16:creationId xmlns:a16="http://schemas.microsoft.com/office/drawing/2014/main" id="{E6FC63E0-FD8D-4C75-8545-645B340E6D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8995" y="635268"/>
            <a:ext cx="4847576" cy="459124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804" y="3712545"/>
            <a:ext cx="3390182" cy="272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660571" y="5437402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Objects and values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represented in </a:t>
            </a:r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Boxed nodes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Arrows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which point from </a:t>
            </a:r>
            <a:r>
              <a:rPr 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objects to their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618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2D09-F881-98BD-2F28-BDF47F30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26655"/>
          </a:xfrm>
        </p:spPr>
        <p:txBody>
          <a:bodyPr/>
          <a:lstStyle/>
          <a:p>
            <a:r>
              <a:rPr lang="en-IN" dirty="0"/>
              <a:t>Real 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52664-F125-8B02-A569-70151005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1209040"/>
            <a:ext cx="11196320" cy="548639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Vehicle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   |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Car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   |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IN" sz="2900" b="1" dirty="0">
                <a:solidFill>
                  <a:srgbClr val="002060"/>
                </a:solidFill>
              </a:rPr>
              <a:t>Electric Car</a:t>
            </a:r>
          </a:p>
          <a:p>
            <a:pPr marL="0" indent="0">
              <a:buNone/>
            </a:pPr>
            <a:r>
              <a:rPr lang="en-IN" sz="2900" dirty="0"/>
              <a:t>Suppose:</a:t>
            </a:r>
          </a:p>
          <a:p>
            <a:pPr marL="0" indent="0">
              <a:buNone/>
            </a:pPr>
            <a:r>
              <a:rPr lang="en-IN" sz="2900" dirty="0">
                <a:solidFill>
                  <a:srgbClr val="C00000"/>
                </a:solidFill>
              </a:rPr>
              <a:t>Vehicle → </a:t>
            </a:r>
            <a:r>
              <a:rPr lang="en-IN" sz="2900" dirty="0" err="1">
                <a:solidFill>
                  <a:srgbClr val="C00000"/>
                </a:solidFill>
              </a:rPr>
              <a:t>hasWheels</a:t>
            </a:r>
            <a:endParaRPr lang="en-IN" sz="29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rgbClr val="C00000"/>
                </a:solidFill>
              </a:rPr>
              <a:t>Car → </a:t>
            </a:r>
            <a:r>
              <a:rPr lang="en-IN" sz="2900" dirty="0" err="1">
                <a:solidFill>
                  <a:srgbClr val="C00000"/>
                </a:solidFill>
              </a:rPr>
              <a:t>hasEngine</a:t>
            </a:r>
            <a:endParaRPr lang="en-IN" sz="29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900" dirty="0">
                <a:solidFill>
                  <a:srgbClr val="C00000"/>
                </a:solidFill>
              </a:rPr>
              <a:t>Electric Car → </a:t>
            </a:r>
            <a:r>
              <a:rPr lang="en-IN" sz="2900" dirty="0" err="1">
                <a:solidFill>
                  <a:srgbClr val="C00000"/>
                </a:solidFill>
              </a:rPr>
              <a:t>usesBattery</a:t>
            </a:r>
            <a:endParaRPr lang="en-IN" sz="29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900" dirty="0"/>
              <a:t>An electric car can inherit:</a:t>
            </a:r>
          </a:p>
          <a:p>
            <a:pPr marL="0" indent="0">
              <a:buNone/>
            </a:pPr>
            <a:r>
              <a:rPr lang="en-IN" sz="2900" dirty="0" err="1">
                <a:solidFill>
                  <a:srgbClr val="C00000"/>
                </a:solidFill>
              </a:rPr>
              <a:t>hasWheels</a:t>
            </a:r>
            <a:endParaRPr lang="en-IN" sz="29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900" dirty="0" err="1">
                <a:solidFill>
                  <a:srgbClr val="C00000"/>
                </a:solidFill>
              </a:rPr>
              <a:t>hasEngine</a:t>
            </a:r>
            <a:endParaRPr lang="en-IN" sz="29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900" dirty="0"/>
              <a:t>from its parent classes, depending on the hierarchy.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973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Inheritable Knowledge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302" y="1128451"/>
            <a:ext cx="8483616" cy="5057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712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F10E-A13B-4DF3-AD9E-F8F53837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166" y="0"/>
            <a:ext cx="10178322" cy="77002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Inheritable Knowledge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B7AAD-43A9-442F-99D5-07C6B508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915" y="649571"/>
            <a:ext cx="10178322" cy="3593591"/>
          </a:xfrm>
        </p:spPr>
        <p:txBody>
          <a:bodyPr>
            <a:normAutofit/>
          </a:bodyPr>
          <a:lstStyle/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Boxed nodes — objects and values of attributes of objects.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Arrows — the point from object to its value.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structure is known as a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slot and filler structure, semantic network or a collection of frames.</a:t>
            </a: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086" y="2037027"/>
            <a:ext cx="6574055" cy="48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0345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765207-0580-7D54-50FE-FF8974311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54000"/>
            <a:ext cx="4800600" cy="5651500"/>
          </a:xfrm>
        </p:spPr>
        <p:txBody>
          <a:bodyPr/>
          <a:lstStyle/>
          <a:p>
            <a:r>
              <a:rPr lang="en-IN" dirty="0"/>
              <a:t>A slot is an attribute-value pair, and a filler is a value that a slot can take.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CAR</a:t>
            </a:r>
          </a:p>
          <a:p>
            <a:pPr marL="0" indent="0">
              <a:buNone/>
            </a:pPr>
            <a:r>
              <a:rPr lang="en-IN" dirty="0"/>
              <a:t>----------------</a:t>
            </a:r>
          </a:p>
          <a:p>
            <a:pPr marL="0" indent="0">
              <a:buNone/>
            </a:pPr>
            <a:r>
              <a:rPr lang="en-IN" dirty="0" err="1"/>
              <a:t>Color</a:t>
            </a:r>
            <a:r>
              <a:rPr lang="en-IN" dirty="0"/>
              <a:t>     → Red</a:t>
            </a:r>
          </a:p>
          <a:p>
            <a:pPr marL="0" indent="0">
              <a:buNone/>
            </a:pPr>
            <a:r>
              <a:rPr lang="en-IN" dirty="0"/>
              <a:t>Model     → Tesla</a:t>
            </a:r>
          </a:p>
          <a:p>
            <a:pPr marL="0" indent="0">
              <a:buNone/>
            </a:pPr>
            <a:r>
              <a:rPr lang="en-IN" dirty="0"/>
              <a:t>Wheels    → 4</a:t>
            </a:r>
          </a:p>
          <a:p>
            <a:pPr marL="0" indent="0">
              <a:buNone/>
            </a:pPr>
            <a:r>
              <a:rPr lang="en-IN" dirty="0"/>
              <a:t>Battery   → 80 kWh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BA938-0156-2A6C-90E1-33FA27CE9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796" y="254000"/>
            <a:ext cx="4800600" cy="5651500"/>
          </a:xfrm>
        </p:spPr>
        <p:txBody>
          <a:bodyPr/>
          <a:lstStyle/>
          <a:p>
            <a:r>
              <a:rPr lang="en-IN" dirty="0"/>
              <a:t>Here:</a:t>
            </a:r>
          </a:p>
          <a:p>
            <a:pPr marL="0" lvl="0" indent="0">
              <a:buNone/>
            </a:pPr>
            <a:r>
              <a:rPr lang="en-IN" dirty="0" err="1"/>
              <a:t>Color</a:t>
            </a:r>
            <a:r>
              <a:rPr lang="en-IN" dirty="0"/>
              <a:t> = slot </a:t>
            </a:r>
          </a:p>
          <a:p>
            <a:pPr marL="0" lvl="0" indent="0">
              <a:buNone/>
            </a:pPr>
            <a:r>
              <a:rPr lang="en-IN" dirty="0"/>
              <a:t>Red = filler </a:t>
            </a:r>
          </a:p>
          <a:p>
            <a:pPr marL="0" lvl="0" indent="0">
              <a:buNone/>
            </a:pPr>
            <a:r>
              <a:rPr lang="en-IN" dirty="0"/>
              <a:t>Model = slot </a:t>
            </a:r>
          </a:p>
          <a:p>
            <a:pPr marL="0" lvl="0" indent="0">
              <a:buNone/>
            </a:pPr>
            <a:r>
              <a:rPr lang="en-IN" dirty="0"/>
              <a:t>Tesla = filler </a:t>
            </a:r>
          </a:p>
          <a:p>
            <a:pPr marL="0" lvl="0" indent="0">
              <a:buNone/>
            </a:pPr>
            <a:r>
              <a:rPr lang="en-IN" dirty="0"/>
              <a:t>Wheels = slot </a:t>
            </a:r>
          </a:p>
          <a:p>
            <a:pPr marL="0" lvl="0" indent="0">
              <a:buNone/>
            </a:pPr>
            <a:r>
              <a:rPr lang="en-IN" dirty="0"/>
              <a:t>4 = filler </a:t>
            </a:r>
          </a:p>
          <a:p>
            <a:pPr marL="0" indent="0">
              <a:buNone/>
            </a:pPr>
            <a:r>
              <a:rPr lang="en-IN" dirty="0"/>
              <a:t>So: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Slot       Filler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-----------------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Color</a:t>
            </a:r>
            <a:r>
              <a:rPr lang="en-IN" dirty="0">
                <a:solidFill>
                  <a:srgbClr val="FF0000"/>
                </a:solidFill>
              </a:rPr>
              <a:t>      Red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Model      Tesla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Wheels     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000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Frames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120" y="1260143"/>
            <a:ext cx="8180281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54530" y="5423595"/>
            <a:ext cx="77882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Weak</a:t>
            </a:r>
            <a:r>
              <a:rPr lang="en-US" dirty="0"/>
              <a:t> slot and filler structures allow for quick retrieval of attribute values, easy description of relation properties, and embrace aspects of object-oriented programming.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slot is an attribute-value pair, and a filler is a value that a slot can take.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314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67FF-0244-8F78-B3A0-4C7C2831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5C427-413A-CD81-32BF-1F7795386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STUDENT</a:t>
            </a:r>
          </a:p>
          <a:p>
            <a:pPr marL="0" indent="0">
              <a:buNone/>
            </a:pPr>
            <a:r>
              <a:rPr lang="en-IN" dirty="0"/>
              <a:t>--------------------</a:t>
            </a:r>
          </a:p>
          <a:p>
            <a:pPr marL="0" indent="0">
              <a:buNone/>
            </a:pPr>
            <a:r>
              <a:rPr lang="en-IN" dirty="0"/>
              <a:t>Name       → Ravi</a:t>
            </a:r>
          </a:p>
          <a:p>
            <a:pPr marL="0" indent="0">
              <a:buNone/>
            </a:pPr>
            <a:r>
              <a:rPr lang="en-IN" dirty="0"/>
              <a:t>Age        → 20</a:t>
            </a:r>
          </a:p>
          <a:p>
            <a:pPr marL="0" indent="0">
              <a:buNone/>
            </a:pPr>
            <a:r>
              <a:rPr lang="en-IN" dirty="0"/>
              <a:t>Department → CSE</a:t>
            </a:r>
          </a:p>
          <a:p>
            <a:pPr marL="0" indent="0">
              <a:buNone/>
            </a:pPr>
            <a:r>
              <a:rPr lang="en-IN" dirty="0"/>
              <a:t>Course     → AI</a:t>
            </a:r>
          </a:p>
          <a:p>
            <a:pPr marL="0" indent="0">
              <a:buNone/>
            </a:pPr>
            <a:r>
              <a:rPr lang="en-IN" dirty="0"/>
              <a:t>CGPA       → 8.5</a:t>
            </a:r>
          </a:p>
        </p:txBody>
      </p:sp>
    </p:spTree>
    <p:extLst>
      <p:ext uri="{BB962C8B-B14F-4D97-AF65-F5344CB8AC3E}">
        <p14:creationId xmlns:p14="http://schemas.microsoft.com/office/powerpoint/2010/main" val="3305258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2725-6913-4515-9B13-917CE1BCF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918" y="0"/>
            <a:ext cx="10178322" cy="56089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Inferential Knowledge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4C83-9C01-4188-AAB1-B78439CC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07" y="560891"/>
            <a:ext cx="10682438" cy="6080541"/>
          </a:xfrm>
        </p:spPr>
        <p:txBody>
          <a:bodyPr>
            <a:noAutofit/>
          </a:bodyPr>
          <a:lstStyle/>
          <a:p>
            <a:pPr lvl="1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knowledge generates new information from the given information.</a:t>
            </a:r>
            <a:endParaRPr lang="en-IN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new information does not require further data gathering from source but does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require analysis of the given information to generate new knowledge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Example: given a set of relations and values, one may infer other values or relations. 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predicate logic (a mathematical deduction) used to infer from a set of attributes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Moreover, Inference through predicate logic uses a set of logical operations to relate individual data.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Represent knowledge as formal logic: 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dogs have tails ∀x</a:t>
            </a:r>
            <a:r>
              <a:rPr lang="en-US" sz="20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dog(x) → </a:t>
            </a:r>
            <a:r>
              <a:rPr lang="en-US" sz="2000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hastail</a:t>
            </a:r>
            <a:r>
              <a:rPr lang="en-US" sz="20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Advantages: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set of strict rules.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use to derive more facts.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Also, Truths of new statements can be verified.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Guaranteed correctness.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So, Many inference procedures available to implement standard rules of logic popular in AI systems.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e.g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Automated theorem proving.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50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685E-A0B8-4887-FD93-0F03A3E8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Inferential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D9FB-78A3-2097-1014-BCCE4E266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59841"/>
            <a:ext cx="10178322" cy="521577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300" dirty="0"/>
              <a:t>This knowledge generates new information from the given information.</a:t>
            </a:r>
          </a:p>
          <a:p>
            <a:pPr marL="0" indent="0">
              <a:buNone/>
            </a:pPr>
            <a:r>
              <a:rPr lang="en-IN" sz="3300" dirty="0"/>
              <a:t>This is </a:t>
            </a:r>
            <a:r>
              <a:rPr lang="en-IN" sz="3300" b="1" dirty="0"/>
              <a:t>reasoning</a:t>
            </a:r>
            <a:r>
              <a:rPr lang="en-IN" sz="3300" dirty="0"/>
              <a:t>.</a:t>
            </a:r>
          </a:p>
          <a:p>
            <a:pPr marL="0" indent="0">
              <a:buNone/>
            </a:pPr>
            <a:r>
              <a:rPr lang="en-IN" sz="3300" b="1" dirty="0"/>
              <a:t>Example:</a:t>
            </a:r>
          </a:p>
          <a:p>
            <a:pPr marL="0" indent="0">
              <a:buNone/>
            </a:pPr>
            <a:r>
              <a:rPr lang="en-IN" sz="3300" dirty="0"/>
              <a:t>Given:</a:t>
            </a:r>
          </a:p>
          <a:p>
            <a:pPr marL="0" indent="0">
              <a:buNone/>
            </a:pPr>
            <a:r>
              <a:rPr lang="en-IN" sz="3300" dirty="0">
                <a:solidFill>
                  <a:srgbClr val="FF0000"/>
                </a:solidFill>
              </a:rPr>
              <a:t>Dog(Bruno)</a:t>
            </a:r>
          </a:p>
          <a:p>
            <a:pPr marL="0" indent="0">
              <a:buNone/>
            </a:pPr>
            <a:r>
              <a:rPr lang="en-IN" sz="3300" dirty="0">
                <a:highlight>
                  <a:srgbClr val="FFFF00"/>
                </a:highlight>
              </a:rPr>
              <a:t>Rule</a:t>
            </a:r>
            <a:r>
              <a:rPr lang="en-IN" sz="3300" dirty="0"/>
              <a:t>:</a:t>
            </a:r>
          </a:p>
          <a:p>
            <a:pPr marL="0" indent="0">
              <a:buNone/>
            </a:pPr>
            <a:r>
              <a:rPr lang="en-IN" sz="3300" dirty="0">
                <a:solidFill>
                  <a:srgbClr val="FF0000"/>
                </a:solidFill>
              </a:rPr>
              <a:t>Dog(x) → Animal(x)</a:t>
            </a:r>
          </a:p>
          <a:p>
            <a:pPr marL="0" indent="0">
              <a:buNone/>
            </a:pPr>
            <a:r>
              <a:rPr lang="en-IN" sz="3300" dirty="0"/>
              <a:t>Inference:</a:t>
            </a:r>
          </a:p>
          <a:p>
            <a:pPr marL="0" indent="0">
              <a:buNone/>
            </a:pPr>
            <a:r>
              <a:rPr lang="en-IN" sz="3300" dirty="0">
                <a:solidFill>
                  <a:srgbClr val="FF0000"/>
                </a:solidFill>
              </a:rPr>
              <a:t>Animal(Bruno)</a:t>
            </a:r>
          </a:p>
          <a:p>
            <a:pPr marL="0" indent="0">
              <a:buNone/>
            </a:pPr>
            <a:r>
              <a:rPr lang="en-IN" sz="3300" dirty="0"/>
              <a:t>The system did not receive Animal(Bruno) directly.</a:t>
            </a:r>
          </a:p>
          <a:p>
            <a:pPr marL="0" indent="0">
              <a:buNone/>
            </a:pPr>
            <a:r>
              <a:rPr lang="en-IN" sz="3300" dirty="0"/>
              <a:t>It </a:t>
            </a:r>
            <a:r>
              <a:rPr lang="en-IN" sz="3300" b="1" dirty="0"/>
              <a:t>derived</a:t>
            </a:r>
            <a:r>
              <a:rPr lang="en-IN" sz="3300" dirty="0"/>
              <a:t>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2630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A519-3281-5FEF-732F-9D007230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 Logic for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73373-7017-2D15-831D-05CB62E5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42721"/>
            <a:ext cx="10178322" cy="44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∀x: dog(x) → </a:t>
            </a:r>
            <a:r>
              <a:rPr lang="en-IN" dirty="0" err="1">
                <a:solidFill>
                  <a:srgbClr val="FF0000"/>
                </a:solidFill>
              </a:rPr>
              <a:t>hastail</a:t>
            </a:r>
            <a:r>
              <a:rPr lang="en-IN" dirty="0">
                <a:solidFill>
                  <a:srgbClr val="FF0000"/>
                </a:solidFill>
              </a:rPr>
              <a:t>(x)</a:t>
            </a:r>
          </a:p>
          <a:p>
            <a:pPr marL="0" indent="0">
              <a:buNone/>
            </a:pPr>
            <a:r>
              <a:rPr lang="en-IN" dirty="0"/>
              <a:t>Suppose: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dog(Bruno)</a:t>
            </a:r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dog(Bruno)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+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∀x(dog(x) → </a:t>
            </a:r>
            <a:r>
              <a:rPr lang="en-IN" dirty="0" err="1">
                <a:solidFill>
                  <a:srgbClr val="FF0000"/>
                </a:solidFill>
              </a:rPr>
              <a:t>hastail</a:t>
            </a:r>
            <a:r>
              <a:rPr lang="en-IN" dirty="0">
                <a:solidFill>
                  <a:srgbClr val="FF0000"/>
                </a:solidFill>
              </a:rPr>
              <a:t>(x))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hastail</a:t>
            </a:r>
            <a:r>
              <a:rPr lang="en-IN" dirty="0">
                <a:solidFill>
                  <a:srgbClr val="FF0000"/>
                </a:solidFill>
              </a:rPr>
              <a:t>(Bruno)</a:t>
            </a:r>
          </a:p>
          <a:p>
            <a:pPr marL="0" indent="0">
              <a:buNone/>
            </a:pPr>
            <a:r>
              <a:rPr lang="en-IN" dirty="0"/>
              <a:t>This is the core idea of </a:t>
            </a:r>
            <a:r>
              <a:rPr lang="en-IN" b="1" dirty="0"/>
              <a:t>logical inference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971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Inferential Knowledge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015" y="2372048"/>
            <a:ext cx="9407970" cy="268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560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FAD0-D2DD-4B93-B9A0-B425DFEE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84002"/>
            <a:ext cx="10178322" cy="59602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Procedural Knowledge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663E7-D860-4AAC-8E82-EDCE04975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18" y="1020154"/>
            <a:ext cx="10625897" cy="4407052"/>
          </a:xfrm>
        </p:spPr>
        <p:txBody>
          <a:bodyPr>
            <a:normAutofit/>
          </a:bodyPr>
          <a:lstStyle/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representation in which the control information, to use the knowledge, embedded in the knowledge itself.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example, computer programs, directions, and recipes; these indicate specific use or implementation.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LISP</a:t>
            </a:r>
          </a:p>
          <a:p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Prolog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Eg.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If: </a:t>
            </a:r>
            <a:r>
              <a:rPr lang="en-IN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headache and Fever</a:t>
            </a:r>
          </a:p>
          <a:p>
            <a:pPr marL="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Then: </a:t>
            </a:r>
            <a:r>
              <a:rPr lang="en-IN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viral fever</a:t>
            </a:r>
          </a:p>
        </p:txBody>
      </p:sp>
    </p:spTree>
    <p:extLst>
      <p:ext uri="{BB962C8B-B14F-4D97-AF65-F5344CB8AC3E}">
        <p14:creationId xmlns:p14="http://schemas.microsoft.com/office/powerpoint/2010/main" val="2980502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70FE-8B8D-4AA0-7481-99A59836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recipe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3381-54E4-F14B-4576-08C8B1580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49681"/>
            <a:ext cx="10178322" cy="52259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dirty="0"/>
              <a:t>Consider: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How do you make tea?</a:t>
            </a:r>
          </a:p>
          <a:p>
            <a:pPr marL="0" indent="0">
              <a:buNone/>
            </a:pPr>
            <a:r>
              <a:rPr lang="en-IN" sz="2600" dirty="0"/>
              <a:t>Procedural knowledge: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1. Boil water.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2. Add tea powder.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3. Add milk.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4. Add sugar.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5. Boil for 2 minutes.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6. Serve.</a:t>
            </a:r>
          </a:p>
          <a:p>
            <a:pPr marL="0" indent="0">
              <a:buNone/>
            </a:pPr>
            <a:r>
              <a:rPr lang="en-IN" sz="2600" dirty="0"/>
              <a:t>This tells us </a:t>
            </a:r>
            <a:r>
              <a:rPr lang="en-IN" sz="2600" b="1" dirty="0"/>
              <a:t>how to perform the task</a:t>
            </a:r>
            <a:r>
              <a:rPr lang="en-IN" sz="2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459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16B0-BFCE-05A4-FCD5-BFD938CF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Medical expert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1A85-9444-E9ED-56F6-A72BD046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44321"/>
            <a:ext cx="10178322" cy="43352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IF headache AND fever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THEN viral fever</a:t>
            </a:r>
          </a:p>
          <a:p>
            <a:pPr marL="0" indent="0">
              <a:buNone/>
            </a:pPr>
            <a:r>
              <a:rPr lang="en-IN" dirty="0"/>
              <a:t>Suppose: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Headache(Patient1)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Fever(Patient1)</a:t>
            </a:r>
          </a:p>
          <a:p>
            <a:pPr marL="0" indent="0">
              <a:buNone/>
            </a:pPr>
            <a:r>
              <a:rPr lang="en-IN" dirty="0"/>
              <a:t>The rule is: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Headache(x) AND Fever(x)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        ↓</a:t>
            </a:r>
          </a:p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</a:rPr>
              <a:t>ViralFever</a:t>
            </a:r>
            <a:r>
              <a:rPr lang="en-IN" dirty="0">
                <a:highlight>
                  <a:srgbClr val="FFFF00"/>
                </a:highlight>
              </a:rPr>
              <a:t>(x)</a:t>
            </a:r>
          </a:p>
          <a:p>
            <a:pPr marL="0" indent="0">
              <a:buNone/>
            </a:pPr>
            <a:r>
              <a:rPr lang="en-IN" dirty="0"/>
              <a:t>Therefore: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ViralFever</a:t>
            </a:r>
            <a:r>
              <a:rPr lang="en-IN" dirty="0">
                <a:solidFill>
                  <a:srgbClr val="FF0000"/>
                </a:solidFill>
              </a:rPr>
              <a:t>(Patient1)</a:t>
            </a:r>
          </a:p>
          <a:p>
            <a:pPr marL="0" indent="0">
              <a:buNone/>
            </a:pPr>
            <a:r>
              <a:rPr lang="en-IN" dirty="0"/>
              <a:t>This is a simple example of a </a:t>
            </a:r>
            <a:r>
              <a:rPr lang="en-IN" b="1" dirty="0"/>
              <a:t>rule-based expert system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9053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2C55-7EBF-4C20-B0E3-4316D443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112877"/>
            <a:ext cx="10178322" cy="68601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Procedural Knowledge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58C8E-8188-466B-93CD-DBC9F9579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53787"/>
            <a:ext cx="10178322" cy="518951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Advantages: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Heuristic or domain-specific knowledge can represent.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Moreover, Extended logical inferences, such as default reasoning facilitated.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Also, Side effects of actions may become false in time. Keeping track of this in large systems may be tricky.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Disadvantages: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Completeness — not all cases may be represent.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Consistency — not all deductions may be correct. </a:t>
            </a:r>
          </a:p>
          <a:p>
            <a:pPr lvl="2"/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e.g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If we know that Fred is a bird we might deduce that Fred can fly. Later we might discover that Fred is an emu.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Modularity sacrificed. Changes in knowledge base might have far-reaching effects.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Cumbersome control information.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42740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3201</TotalTime>
  <Words>2799</Words>
  <Application>Microsoft Office PowerPoint</Application>
  <PresentationFormat>Widescreen</PresentationFormat>
  <Paragraphs>481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Cambria</vt:lpstr>
      <vt:lpstr>Gill Sans MT</vt:lpstr>
      <vt:lpstr>Impact</vt:lpstr>
      <vt:lpstr>Symbol</vt:lpstr>
      <vt:lpstr>Times New Roman</vt:lpstr>
      <vt:lpstr>Badge</vt:lpstr>
      <vt:lpstr>Knowledge representation</vt:lpstr>
      <vt:lpstr>Knowledge Representation (KR)</vt:lpstr>
      <vt:lpstr>PowerPoint Presentation</vt:lpstr>
      <vt:lpstr>example</vt:lpstr>
      <vt:lpstr>PowerPoint Presentation</vt:lpstr>
      <vt:lpstr>Knowledge representation</vt:lpstr>
      <vt:lpstr>Logic</vt:lpstr>
      <vt:lpstr>rules</vt:lpstr>
      <vt:lpstr>frames</vt:lpstr>
      <vt:lpstr>Semantic network</vt:lpstr>
      <vt:lpstr>PowerPoint Presentation</vt:lpstr>
      <vt:lpstr>PowerPoint Presentation</vt:lpstr>
      <vt:lpstr>Representation &amp; Mapping</vt:lpstr>
      <vt:lpstr>Representation &amp; Mapping</vt:lpstr>
      <vt:lpstr>All humans are mortal. Socrates is a human. </vt:lpstr>
      <vt:lpstr>Cats eat fish. </vt:lpstr>
      <vt:lpstr>All Parents Love Their Children</vt:lpstr>
      <vt:lpstr>Every Student Is Enrolled in AI</vt:lpstr>
      <vt:lpstr>Every Author of a Book Is a Person</vt:lpstr>
      <vt:lpstr>PowerPoint Presentation</vt:lpstr>
      <vt:lpstr>PowerPoint Presentation</vt:lpstr>
      <vt:lpstr>PowerPoint Presentation</vt:lpstr>
      <vt:lpstr>Approaches to Knowledge Representation</vt:lpstr>
      <vt:lpstr>Knowledge representation</vt:lpstr>
      <vt:lpstr>Mapping between Facts and Representation</vt:lpstr>
      <vt:lpstr>Properties of good knowledge representation system</vt:lpstr>
      <vt:lpstr>Representational Adequacy </vt:lpstr>
      <vt:lpstr>Inferential Adequacy </vt:lpstr>
      <vt:lpstr>Inferential Efficiency </vt:lpstr>
      <vt:lpstr>Acquisitional Efficiency </vt:lpstr>
      <vt:lpstr>PowerPoint Presentation</vt:lpstr>
      <vt:lpstr>PowerPoint Presentation</vt:lpstr>
      <vt:lpstr>Approaches to Knowledge representation</vt:lpstr>
      <vt:lpstr>Points to remember</vt:lpstr>
      <vt:lpstr>Approaches to knowledge representation - summary</vt:lpstr>
      <vt:lpstr>Relational Knowledge</vt:lpstr>
      <vt:lpstr>Relational Knowledge</vt:lpstr>
      <vt:lpstr>limitation</vt:lpstr>
      <vt:lpstr>Inheritable Knowledge </vt:lpstr>
      <vt:lpstr>Inheritable Knowledge</vt:lpstr>
      <vt:lpstr>Inheritable Knowledge</vt:lpstr>
      <vt:lpstr>Real life example</vt:lpstr>
      <vt:lpstr>Inheritable Knowledge</vt:lpstr>
      <vt:lpstr>Inheritable Knowledge</vt:lpstr>
      <vt:lpstr>PowerPoint Presentation</vt:lpstr>
      <vt:lpstr>Frames</vt:lpstr>
      <vt:lpstr>Frames</vt:lpstr>
      <vt:lpstr>Inferential Knowledge</vt:lpstr>
      <vt:lpstr>Inferential knowledge</vt:lpstr>
      <vt:lpstr>Predicate Logic for Inference</vt:lpstr>
      <vt:lpstr>Inferential Knowledge</vt:lpstr>
      <vt:lpstr>Procedural Knowledge</vt:lpstr>
      <vt:lpstr>Simple recipe example</vt:lpstr>
      <vt:lpstr>Medical expert system</vt:lpstr>
      <vt:lpstr>Procedural Knowledge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Approaches to Knowledge Representation</dc:title>
  <dc:creator>shamilaebenezer@outlook.com</dc:creator>
  <cp:lastModifiedBy>SANTHIYA P</cp:lastModifiedBy>
  <cp:revision>59</cp:revision>
  <dcterms:created xsi:type="dcterms:W3CDTF">2020-02-08T08:34:40Z</dcterms:created>
  <dcterms:modified xsi:type="dcterms:W3CDTF">2026-09-11T03:55:39Z</dcterms:modified>
</cp:coreProperties>
</file>